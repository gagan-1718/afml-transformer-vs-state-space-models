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bac2b63b4334760" /><Relationship Type="http://schemas.openxmlformats.org/officeDocument/2006/relationships/extended-properties" Target="/docProps/app.xml" Id="R9115808244324023" /><Relationship Type="http://schemas.openxmlformats.org/officeDocument/2006/relationships/officeDocument" Target="/ppt/presentation.xml" Id="R7f06f817aa554ce2" /></Relationships>
</file>

<file path=ppt/presentation.xml><?xml version="1.0" encoding="utf-8"?>
<p:presentation xmlns:p="http://schemas.openxmlformats.org/presentationml/2006/main">
  <p:sldMasterIdLst>
    <p:sldMasterId xmlns:r="http://schemas.openxmlformats.org/officeDocument/2006/relationships" id="2147483648" r:id="R8396f20f9fa94f6d"/>
  </p:sldMasterIdLst>
  <p:notesMasterIdLst>
    <p:notesMasterId xmlns:r="http://schemas.openxmlformats.org/officeDocument/2006/relationships" r:id="Ree8a17a12eba4b9e"/>
  </p:notesMasterIdLst>
  <p:sldIdLst>
    <p:sldId xmlns:r="http://schemas.openxmlformats.org/officeDocument/2006/relationships" id="256" r:id="R7b019e3a88824b63"/>
    <p:sldId xmlns:r="http://schemas.openxmlformats.org/officeDocument/2006/relationships" id="257" r:id="Rd861d08ebbe345d6"/>
    <p:sldId xmlns:r="http://schemas.openxmlformats.org/officeDocument/2006/relationships" id="258" r:id="R74651aa24d344797"/>
    <p:sldId xmlns:r="http://schemas.openxmlformats.org/officeDocument/2006/relationships" id="259" r:id="R2d251f4483574c06"/>
    <p:sldId xmlns:r="http://schemas.openxmlformats.org/officeDocument/2006/relationships" id="260" r:id="R3701af57a730409e"/>
    <p:sldId xmlns:r="http://schemas.openxmlformats.org/officeDocument/2006/relationships" id="261" r:id="R8fc170e9cc3b4cc7"/>
    <p:sldId xmlns:r="http://schemas.openxmlformats.org/officeDocument/2006/relationships" id="262" r:id="Rb885bd9776cb4963"/>
    <p:sldId xmlns:r="http://schemas.openxmlformats.org/officeDocument/2006/relationships" id="263" r:id="Raee1e3ff0ea24734"/>
    <p:sldId xmlns:r="http://schemas.openxmlformats.org/officeDocument/2006/relationships" id="264" r:id="R599bdc00b26c45f3"/>
    <p:sldId xmlns:r="http://schemas.openxmlformats.org/officeDocument/2006/relationships" id="265" r:id="R62fd0fd3e21a4d8e"/>
    <p:sldId xmlns:r="http://schemas.openxmlformats.org/officeDocument/2006/relationships" id="266" r:id="R8212feda53ba4c74"/>
  </p:sldIdLst>
  <p:sldSz cx="12192000" cy="6858000"/>
  <p:notesSz cx="6858000" cy="9144000"/>
  <p:defaultTextStyle>
    <a:defPPr xmlns:a="http://schemas.openxmlformats.org/drawingml/2006/main">
      <a:buNone/>
    </a:defPPr>
    <a:lvl1pPr xmlns:a="http://schemas.openxmlformats.org/drawingml/2006/main" algn="l">
      <a:spcBef>
        <a:spcPct val="0"/>
      </a:spcBef>
      <a:spcAft>
        <a:spcPct val="0"/>
      </a:spcAft>
      <a:buNone/>
      <a:defRPr kern="1200">
        <a:solidFill>
          <a:schemeClr val="tx1"/>
        </a:solidFill>
        <a:latin typeface="Arial"/>
        <a:ea typeface="Arial"/>
        <a:cs typeface="Arial"/>
      </a:defRPr>
    </a:lvl1pPr>
    <a:lvl2pPr xmlns:a="http://schemas.openxmlformats.org/drawingml/2006/main" marL="457200" algn="l">
      <a:spcBef>
        <a:spcPct val="0"/>
      </a:spcBef>
      <a:spcAft>
        <a:spcPct val="0"/>
      </a:spcAft>
      <a:buNone/>
      <a:defRPr kern="1200">
        <a:solidFill>
          <a:schemeClr val="tx1"/>
        </a:solidFill>
        <a:latin typeface="Arial"/>
        <a:ea typeface="Arial"/>
        <a:cs typeface="Arial"/>
      </a:defRPr>
    </a:lvl2pPr>
    <a:lvl3pPr xmlns:a="http://schemas.openxmlformats.org/drawingml/2006/main" marL="914400" algn="l">
      <a:spcBef>
        <a:spcPct val="0"/>
      </a:spcBef>
      <a:spcAft>
        <a:spcPct val="0"/>
      </a:spcAft>
      <a:buNone/>
      <a:defRPr kern="1200">
        <a:solidFill>
          <a:schemeClr val="tx1"/>
        </a:solidFill>
        <a:latin typeface="Arial"/>
        <a:ea typeface="Arial"/>
        <a:cs typeface="Arial"/>
      </a:defRPr>
    </a:lvl3pPr>
    <a:lvl4pPr xmlns:a="http://schemas.openxmlformats.org/drawingml/2006/main" marL="1371600" algn="l">
      <a:spcBef>
        <a:spcPct val="0"/>
      </a:spcBef>
      <a:spcAft>
        <a:spcPct val="0"/>
      </a:spcAft>
      <a:buNone/>
      <a:defRPr kern="1200">
        <a:solidFill>
          <a:schemeClr val="tx1"/>
        </a:solidFill>
        <a:latin typeface="Arial"/>
        <a:ea typeface="Arial"/>
        <a:cs typeface="Arial"/>
      </a:defRPr>
    </a:lvl4pPr>
    <a:lvl5pPr xmlns:a="http://schemas.openxmlformats.org/drawingml/2006/main" marL="1828800" algn="l">
      <a:spcBef>
        <a:spcPct val="0"/>
      </a:spcBef>
      <a:spcAft>
        <a:spcPct val="0"/>
      </a:spcAft>
      <a:buNone/>
      <a:defRPr kern="1200">
        <a:solidFill>
          <a:schemeClr val="tx1"/>
        </a:solidFill>
        <a:latin typeface="Arial"/>
        <a:ea typeface="Arial"/>
        <a:cs typeface="Arial"/>
      </a:defRPr>
    </a:lvl5pPr>
    <a:lvl6pPr xmlns:a="http://schemas.openxmlformats.org/drawingml/2006/main" marL="2286000" algn="l" defTabSz="914400">
      <a:buNone/>
      <a:defRPr kern="1200">
        <a:solidFill>
          <a:schemeClr val="tx1"/>
        </a:solidFill>
        <a:latin typeface="Arial"/>
        <a:ea typeface="Arial"/>
        <a:cs typeface="Arial"/>
      </a:defRPr>
    </a:lvl6pPr>
    <a:lvl7pPr xmlns:a="http://schemas.openxmlformats.org/drawingml/2006/main" marL="2743200" algn="l" defTabSz="914400">
      <a:buNone/>
      <a:defRPr kern="1200">
        <a:solidFill>
          <a:schemeClr val="tx1"/>
        </a:solidFill>
        <a:latin typeface="Arial"/>
        <a:ea typeface="Arial"/>
        <a:cs typeface="Arial"/>
      </a:defRPr>
    </a:lvl7pPr>
    <a:lvl8pPr xmlns:a="http://schemas.openxmlformats.org/drawingml/2006/main" marL="3200400" algn="l" defTabSz="914400">
      <a:buNone/>
      <a:defRPr kern="1200">
        <a:solidFill>
          <a:schemeClr val="tx1"/>
        </a:solidFill>
        <a:latin typeface="Arial"/>
        <a:ea typeface="Arial"/>
        <a:cs typeface="Arial"/>
      </a:defRPr>
    </a:lvl8pPr>
    <a:lvl9pPr xmlns:a="http://schemas.openxmlformats.org/drawingml/2006/main" marL="3657600" algn="l" defTabSz="914400">
      <a:buNone/>
      <a:defRPr kern="1200">
        <a:solidFill>
          <a:schemeClr val="tx1"/>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462c909f3394be1" /><Relationship Type="http://schemas.openxmlformats.org/officeDocument/2006/relationships/slideMaster" Target="/ppt/slideMasters/slideMaster1.xml" Id="R8396f20f9fa94f6d" /><Relationship Type="http://schemas.openxmlformats.org/officeDocument/2006/relationships/notesMaster" Target="/ppt/notesMasters/notesMaster1.xml" Id="Ree8a17a12eba4b9e" /><Relationship Type="http://schemas.openxmlformats.org/officeDocument/2006/relationships/presProps" Target="/ppt/presProps.xml" Id="Rc08fe116e3ff4960" /><Relationship Type="http://schemas.openxmlformats.org/officeDocument/2006/relationships/viewProps" Target="/ppt/viewProps.xml" Id="Rad043b444427487a" /><Relationship Type="http://schemas.openxmlformats.org/officeDocument/2006/relationships/tableStyles" Target="/ppt/tableStyles.xml" Id="R75361223508a4bf6" /><Relationship Type="http://schemas.openxmlformats.org/officeDocument/2006/relationships/slide" Target="/ppt/slides/slide1.xml" Id="R7b019e3a88824b63" /><Relationship Type="http://schemas.openxmlformats.org/officeDocument/2006/relationships/slide" Target="/ppt/slides/slide2.xml" Id="Rd861d08ebbe345d6" /><Relationship Type="http://schemas.openxmlformats.org/officeDocument/2006/relationships/slide" Target="/ppt/slides/slide3.xml" Id="R74651aa24d344797" /><Relationship Type="http://schemas.openxmlformats.org/officeDocument/2006/relationships/slide" Target="/ppt/slides/slide4.xml" Id="R2d251f4483574c06" /><Relationship Type="http://schemas.openxmlformats.org/officeDocument/2006/relationships/slide" Target="/ppt/slides/slide5.xml" Id="R3701af57a730409e" /><Relationship Type="http://schemas.openxmlformats.org/officeDocument/2006/relationships/slide" Target="/ppt/slides/slide6.xml" Id="R8fc170e9cc3b4cc7" /><Relationship Type="http://schemas.openxmlformats.org/officeDocument/2006/relationships/slide" Target="/ppt/slides/slide7.xml" Id="Rb885bd9776cb4963" /><Relationship Type="http://schemas.openxmlformats.org/officeDocument/2006/relationships/slide" Target="/ppt/slides/slide8.xml" Id="Raee1e3ff0ea24734" /><Relationship Type="http://schemas.openxmlformats.org/officeDocument/2006/relationships/slide" Target="/ppt/slides/slide9.xml" Id="R599bdc00b26c45f3" /><Relationship Type="http://schemas.openxmlformats.org/officeDocument/2006/relationships/slide" Target="/ppt/slides/slide10.xml" Id="R62fd0fd3e21a4d8e" /><Relationship Type="http://schemas.openxmlformats.org/officeDocument/2006/relationships/slide" Target="/ppt/slides/slide11.xml" Id="R8212feda53ba4c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3b50691caa48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60d200e5fe40cf" /><Relationship Type="http://schemas.openxmlformats.org/officeDocument/2006/relationships/notesMaster" Target="/ppt/notesMasters/notesMaster1.xml" Id="R5ecbce3e191b46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26c0266756443e" /><Relationship Type="http://schemas.openxmlformats.org/officeDocument/2006/relationships/notesMaster" Target="/ppt/notesMasters/notesMaster1.xml" Id="Rbe2ca91e9acc47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d8386b69094ef2" /><Relationship Type="http://schemas.openxmlformats.org/officeDocument/2006/relationships/notesMaster" Target="/ppt/notesMasters/notesMaster1.xml" Id="R8b0a64dba12b4f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bc546e8df545f1" /><Relationship Type="http://schemas.openxmlformats.org/officeDocument/2006/relationships/notesMaster" Target="/ppt/notesMasters/notesMaster1.xml" Id="R290951c889f947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d24a75f44b4559" /><Relationship Type="http://schemas.openxmlformats.org/officeDocument/2006/relationships/notesMaster" Target="/ppt/notesMasters/notesMaster1.xml" Id="Rca55ea43dd7942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498778c9114eee" /><Relationship Type="http://schemas.openxmlformats.org/officeDocument/2006/relationships/notesMaster" Target="/ppt/notesMasters/notesMaster1.xml" Id="Rf8879753022142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aa3993781d4e84" /><Relationship Type="http://schemas.openxmlformats.org/officeDocument/2006/relationships/notesMaster" Target="/ppt/notesMasters/notesMaster1.xml" Id="R2e0e0c3404ae4e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fc8e6a8b05454f" /><Relationship Type="http://schemas.openxmlformats.org/officeDocument/2006/relationships/notesMaster" Target="/ppt/notesMasters/notesMaster1.xml" Id="Rff93275503554d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109fde49844181" /><Relationship Type="http://schemas.openxmlformats.org/officeDocument/2006/relationships/notesMaster" Target="/ppt/notesMasters/notesMaster1.xml" Id="Rb928f87dcacb43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f9fa7c3e8344fa" /><Relationship Type="http://schemas.openxmlformats.org/officeDocument/2006/relationships/notesMaster" Target="/ppt/notesMasters/notesMaster1.xml" Id="R9bcdfaceeb1146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a7d33c4bd0495a" /><Relationship Type="http://schemas.openxmlformats.org/officeDocument/2006/relationships/notesMaster" Target="/ppt/notesMasters/notesMaster1.xml" Id="R61f003e1bfa74e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compares a small Transformer and a Mamba-style language model. This review presents the first Transformer training experiment. Both architectures exist in code, but we have not completed the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language model predicts the next token from earlier text. Our final question is whether a selective state-space model can retain comparable prediction quality while improving efficiency as sequences become longer. This is a hypothesis, not a result. Source: submitted Team 7 one-pager.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provides direct access to earlier token representations. Mamba uses input-dependent state-space parameters. We are studying existing ideas at a feasible student scale, not claiming a new architecture. Our PyTorch Mamba scan is not an optimized production kernel. Source: https://arxiv.org/abs/2312.00752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a bounded sample from FineWeb-Edu, not all ten billion tokens. Split whole documents before tokenization. Fit the tokenizer only on training documents. Dataset revision: 87f09149ef4734204d70ed1d046ddc9ca3f2b8f9. Source: https://huggingface.co/datasets/HuggingFaceFW/fineweb-edu . Evidence: results/review1/summary.json and data_manifest.json. Perplexity depends on the tokenizer. The validation set is used to choose a checkpoint and is not a final test set.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row from left to right, then follow the bottom row from right to left. Training repeatedly updates weights before validation and demonstration. Inputs and targets differ by one token. The future Mamba run will reuse the data and evaluation setup. The present demo trains the Transformer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values come from results/review1/metrics.csv and summary.json. Native chart data are rounded to four decimal places for the embedded workbook. Training curve uses a fixed 32-window subset. Validation uses all 494 prepared windows. Best checkpoint at step 300. Duration including validation and checkpointing: 54.0 seconds. These are pilot results, not a final test or efficiency comparison. Demonstrate the saved checkpoint using the notebook or generate command. Actual sample: The purpose of education is a caused by a simitate of cardharohats, but the try that health and realle a shources the harbels of the larvo the northatory of the vuricle and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Mamba code has small correctness tests, but it has not been trained on this FineWeb-Edu pilot. Full comparison and final deliverables remain future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completed rows refer only to the small pilot scope. Tests and execution evidence are in results/review1. Mamba dataset training and efficiency comparison have not been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ready to explain each point using a tiny token sequence or the saved graph. These are the key ideas behind the code rather than software-engineering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measure rather than assume that Mamba is faster. Our current scan implementation may dominate its speed and memory. Longer-context evaluation needs explicit lengths, matching settings and careful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Mamba: https://arxiv.org/abs/2312.00752</a:t>
            </a:r>
          </a:p>
          <a:p xmlns:a="http://schemas.openxmlformats.org/drawingml/2006/main">
            <a:r>
              <a:t>S4: https://arxiv.org/abs/2111.00396 (2021 preprint, ICLR 2022)</a:t>
            </a:r>
          </a:p>
          <a:p xmlns:a="http://schemas.openxmlformats.org/drawingml/2006/main">
            <a:r>
              <a:t>Mamba-2: https://arxiv.org/abs/2405.21060</a:t>
            </a:r>
          </a:p>
          <a:p xmlns:a="http://schemas.openxmlformats.org/drawingml/2006/main">
            <a:r>
              <a:t>Dataset: https://huggingface.co/datasets/HuggingFaceFW/fineweb-edu</a:t>
            </a:r>
          </a:p>
          <a:p xmlns:a="http://schemas.openxmlformats.org/drawingml/2006/main">
            <a:r>
              <a:t>Repository: https://github.com/Gagan-1718/afml-transformer-vs-state-space-models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178b59a1e143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03a44a847b4d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761abf68194a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80d6278ec645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7e1ce7dd7148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4370e324739448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379381d10924f9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ed42997ceeb4e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c6a6ebc9d574149" /></Relationships>
</file>

<file path=ppt/slideLayouts/slideLayout1.xml><?xml version="1.0" encoding="utf-8"?>
<p:sldLayout xmlns:p="http://schemas.openxmlformats.org/presentationml/2006/main" showMasterSp="0"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2713C8-F183-1D43-AE77-BF9BD4D2AE33}"/>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E7AF752-0EC0-CF4D-965A-5129A913599F}"/>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3E32540-0688-DC4A-809A-52FB3313D3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8E85DDF-39D3-4E85-946B-AC59C23A0961}" type="datetime1">
              <a:t>10/23/2026</a:t>
            </a:fld>
            <a:endParaRPr/>
          </a:p>
        </p:txBody>
      </p:sp>
      <p:sp>
        <p:nvSpPr>
          <p:cNvPr id="5" name="Footer Placeholder 4">
            <a:extLst xmlns:a="http://schemas.openxmlformats.org/drawingml/2006/main">
              <a:ext uri="{FF2B5EF4-FFF2-40B4-BE49-F238E27FC236}">
                <a16:creationId xmlns:a16="http://schemas.microsoft.com/office/drawing/2014/main" id="{0F2CA43E-0611-D047-BC7B-31F920B659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6" name="Slide Number Placeholder 5">
            <a:extLst xmlns:a="http://schemas.openxmlformats.org/drawingml/2006/main">
              <a:ext uri="{FF2B5EF4-FFF2-40B4-BE49-F238E27FC236}">
                <a16:creationId xmlns:a16="http://schemas.microsoft.com/office/drawing/2014/main" id="{2B6E4123-5713-BC41-BBD0-42ADF35D96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2.xml><?xml version="1.0" encoding="utf-8"?>
<p:sldLayout xmlns:p="http://schemas.openxmlformats.org/presentationml/2006/main" showMasterSp="0"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1DED43-C903-1F44-A779-40DF9AEFDE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E9975D8-34AD-544B-B0E2-83FA77D2FAF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9D24DD5-B8E0-534E-B68A-EF415575E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805AACF-9EE3-4BB7-9DCA-110C370C7B5F}" type="datetime1">
              <a:t>10/23/2026</a:t>
            </a:fld>
            <a:endParaRPr/>
          </a:p>
        </p:txBody>
      </p:sp>
      <p:sp>
        <p:nvSpPr>
          <p:cNvPr id="5" name="Footer Placeholder 4">
            <a:extLst xmlns:a="http://schemas.openxmlformats.org/drawingml/2006/main">
              <a:ext uri="{FF2B5EF4-FFF2-40B4-BE49-F238E27FC236}">
                <a16:creationId xmlns:a16="http://schemas.microsoft.com/office/drawing/2014/main" id="{45096688-5BB1-5E48-BD14-BBC9FA67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6" name="Slide Number Placeholder 5">
            <a:extLst xmlns:a="http://schemas.openxmlformats.org/drawingml/2006/main">
              <a:ext uri="{FF2B5EF4-FFF2-40B4-BE49-F238E27FC236}">
                <a16:creationId xmlns:a16="http://schemas.microsoft.com/office/drawing/2014/main" id="{71DC407C-3003-DB44-98B5-0DEC6272B1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3.xml><?xml version="1.0" encoding="utf-8"?>
<p:sldLayout xmlns:p="http://schemas.openxmlformats.org/presentationml/2006/main" showMasterSp="0"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C5630D-09E2-0742-AED8-D3F732546CDC}"/>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15B2CD3-A564-8044-A4EC-7EBA26298781}"/>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22A64EE-79C1-8B46-BA9C-199117C7B4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4FC3EF0-AE76-4966-9D80-16D2E221D06F}" type="datetime1">
              <a:t>10/23/2026</a:t>
            </a:fld>
            <a:endParaRPr/>
          </a:p>
        </p:txBody>
      </p:sp>
      <p:sp>
        <p:nvSpPr>
          <p:cNvPr id="5" name="Footer Placeholder 4">
            <a:extLst xmlns:a="http://schemas.openxmlformats.org/drawingml/2006/main">
              <a:ext uri="{FF2B5EF4-FFF2-40B4-BE49-F238E27FC236}">
                <a16:creationId xmlns:a16="http://schemas.microsoft.com/office/drawing/2014/main" id="{A851AAB2-DA47-AE48-A088-6FC7C16945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6" name="Slide Number Placeholder 5">
            <a:extLst xmlns:a="http://schemas.openxmlformats.org/drawingml/2006/main">
              <a:ext uri="{FF2B5EF4-FFF2-40B4-BE49-F238E27FC236}">
                <a16:creationId xmlns:a16="http://schemas.microsoft.com/office/drawing/2014/main" id="{F348FF9C-19C9-FA46-8C21-7420249942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4.xml><?xml version="1.0" encoding="utf-8"?>
<p:sldLayout xmlns:p="http://schemas.openxmlformats.org/presentationml/2006/main" showMasterSp="0"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7CBAF5-C913-024F-8BE6-64C58F9702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95E6DB7-D3D7-1443-A583-8730715E253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53CEB82F-3E99-7441-9B06-6D7C2156AB8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426D282-1572-D344-87D1-785DA85760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766AD3E-78B5-4549-BA22-E848CF5F2F18}" type="datetime1">
              <a:t>10/23/2026</a:t>
            </a:fld>
            <a:endParaRPr/>
          </a:p>
        </p:txBody>
      </p:sp>
      <p:sp>
        <p:nvSpPr>
          <p:cNvPr id="6" name="Footer Placeholder 5">
            <a:extLst xmlns:a="http://schemas.openxmlformats.org/drawingml/2006/main">
              <a:ext uri="{FF2B5EF4-FFF2-40B4-BE49-F238E27FC236}">
                <a16:creationId xmlns:a16="http://schemas.microsoft.com/office/drawing/2014/main" id="{3723D760-065F-6442-AF7E-1A7AAFFCA9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7" name="Slide Number Placeholder 6">
            <a:extLst xmlns:a="http://schemas.openxmlformats.org/drawingml/2006/main">
              <a:ext uri="{FF2B5EF4-FFF2-40B4-BE49-F238E27FC236}">
                <a16:creationId xmlns:a16="http://schemas.microsoft.com/office/drawing/2014/main" id="{26BF4C15-EC3A-7E41-A2B3-D2AB7D70E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5.xml><?xml version="1.0" encoding="utf-8"?>
<p:sldLayout xmlns:p="http://schemas.openxmlformats.org/presentationml/2006/main" showMasterSp="0"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72CC90-B8AE-8A46-A8A5-F7E8DA615EEE}"/>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8E152C5-AA77-4B47-965C-21A00C1EECE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C466F8D-3502-5242-9160-E1CDE38E0ABE}"/>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9754302-8F9A-5648-9C5E-6D037F1C754C}"/>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A9FC9CD-8823-F145-9952-EFBA9ACD2E8C}"/>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D65EF4D9-655F-4842-A6B8-D44A050122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9830B69-2159-4C70-8634-20F5099D7A54}" type="datetime1">
              <a:t>10/23/2026</a:t>
            </a:fld>
            <a:endParaRPr/>
          </a:p>
        </p:txBody>
      </p:sp>
      <p:sp>
        <p:nvSpPr>
          <p:cNvPr id="8" name="Footer Placeholder 7">
            <a:extLst xmlns:a="http://schemas.openxmlformats.org/drawingml/2006/main">
              <a:ext uri="{FF2B5EF4-FFF2-40B4-BE49-F238E27FC236}">
                <a16:creationId xmlns:a16="http://schemas.microsoft.com/office/drawing/2014/main" id="{08E68A74-725F-8F40-8F80-E96287703E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9" name="Slide Number Placeholder 8">
            <a:extLst xmlns:a="http://schemas.openxmlformats.org/drawingml/2006/main">
              <a:ext uri="{FF2B5EF4-FFF2-40B4-BE49-F238E27FC236}">
                <a16:creationId xmlns:a16="http://schemas.microsoft.com/office/drawing/2014/main" id="{29D868FA-8565-A740-9B9C-B3CD6AB335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6.xml><?xml version="1.0" encoding="utf-8"?>
<p:sldLayout xmlns:p="http://schemas.openxmlformats.org/presentationml/2006/main" showMasterSp="0"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8DFCE3-1C1E-7448-AF7E-5E46BB1408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B19D5C9-50F6-8546-8D8C-AFACC1BC1B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B4CB950-DD21-4D51-B3CD-5A28CADC98C9}" type="datetime1">
              <a:t>10/23/2026</a:t>
            </a:fld>
            <a:endParaRPr/>
          </a:p>
        </p:txBody>
      </p:sp>
      <p:sp>
        <p:nvSpPr>
          <p:cNvPr id="4" name="Footer Placeholder 3">
            <a:extLst xmlns:a="http://schemas.openxmlformats.org/drawingml/2006/main">
              <a:ext uri="{FF2B5EF4-FFF2-40B4-BE49-F238E27FC236}">
                <a16:creationId xmlns:a16="http://schemas.microsoft.com/office/drawing/2014/main" id="{1DEA0D0C-FCAF-4F4C-AAF5-C9B78C03C4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5" name="Slide Number Placeholder 4">
            <a:extLst xmlns:a="http://schemas.openxmlformats.org/drawingml/2006/main">
              <a:ext uri="{FF2B5EF4-FFF2-40B4-BE49-F238E27FC236}">
                <a16:creationId xmlns:a16="http://schemas.microsoft.com/office/drawing/2014/main" id="{7568836A-EEA3-7347-A63C-8E66DF7B34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7.xml><?xml version="1.0" encoding="utf-8"?>
<p:sldLayout xmlns:p="http://schemas.openxmlformats.org/presentationml/2006/main" showMasterSp="0"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E7A43C1-2303-5A41-B234-90D15E2A4B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E5EF34C-7281-42E7-B6AC-FEB9D394AAA4}" type="datetime1">
              <a:t>10/23/2026</a:t>
            </a:fld>
            <a:endParaRPr/>
          </a:p>
        </p:txBody>
      </p:sp>
      <p:sp>
        <p:nvSpPr>
          <p:cNvPr id="3" name="Footer Placeholder 2">
            <a:extLst xmlns:a="http://schemas.openxmlformats.org/drawingml/2006/main">
              <a:ext uri="{FF2B5EF4-FFF2-40B4-BE49-F238E27FC236}">
                <a16:creationId xmlns:a16="http://schemas.microsoft.com/office/drawing/2014/main" id="{9EA77971-B281-6149-9884-0E9C45F816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4" name="Slide Number Placeholder 3">
            <a:extLst xmlns:a="http://schemas.openxmlformats.org/drawingml/2006/main">
              <a:ext uri="{FF2B5EF4-FFF2-40B4-BE49-F238E27FC236}">
                <a16:creationId xmlns:a16="http://schemas.microsoft.com/office/drawing/2014/main" id="{B1D0F6F3-1061-E842-B540-6BD0D6CB8D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8.xml><?xml version="1.0" encoding="utf-8"?>
<p:sldLayout xmlns:p="http://schemas.openxmlformats.org/presentationml/2006/main" showMasterSp="0"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B970D-13D5-B346-968D-400B0BCCF66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019FFE0-37CD-7644-A007-76E5304F1217}"/>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70210BE7-EA92-B44F-9EEC-94E6F6955C4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3B6D810-D2A1-B549-A5BC-25CCA5CDCD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AF1107-4605-4DE8-BB77-6EEE1B1FE373}" type="datetime1">
              <a:t>10/23/2026</a:t>
            </a:fld>
            <a:endParaRPr/>
          </a:p>
        </p:txBody>
      </p:sp>
      <p:sp>
        <p:nvSpPr>
          <p:cNvPr id="6" name="Footer Placeholder 5">
            <a:extLst xmlns:a="http://schemas.openxmlformats.org/drawingml/2006/main">
              <a:ext uri="{FF2B5EF4-FFF2-40B4-BE49-F238E27FC236}">
                <a16:creationId xmlns:a16="http://schemas.microsoft.com/office/drawing/2014/main" id="{6AD872D2-2005-3043-A02D-3E2DB9334E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7" name="Slide Number Placeholder 6">
            <a:extLst xmlns:a="http://schemas.openxmlformats.org/drawingml/2006/main">
              <a:ext uri="{FF2B5EF4-FFF2-40B4-BE49-F238E27FC236}">
                <a16:creationId xmlns:a16="http://schemas.microsoft.com/office/drawing/2014/main" id="{59F9F01D-1164-4249-AD67-1D51D33C01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Layouts/slideLayout9.xml><?xml version="1.0" encoding="utf-8"?>
<p:sldLayout xmlns:p="http://schemas.openxmlformats.org/presentationml/2006/main" showMasterSp="0"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2D3B30-2A71-A043-9BD7-3B8C66BF74A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32B08A9-6B45-4340-8859-996D9B949092}"/>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26B1F4B2-96C1-614B-9110-8D1AEE080D3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07DF3EB-6252-5845-AE7D-FB94ECF9F1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442BD58-83AD-4F6E-950A-23A1A37B2CE8}" type="datetime1">
              <a:t>10/23/2026</a:t>
            </a:fld>
            <a:endParaRPr/>
          </a:p>
        </p:txBody>
      </p:sp>
      <p:sp>
        <p:nvSpPr>
          <p:cNvPr id="6" name="Footer Placeholder 5">
            <a:extLst xmlns:a="http://schemas.openxmlformats.org/drawingml/2006/main">
              <a:ext uri="{FF2B5EF4-FFF2-40B4-BE49-F238E27FC236}">
                <a16:creationId xmlns:a16="http://schemas.microsoft.com/office/drawing/2014/main" id="{D2D65DB7-EFE7-7446-8DEC-69F1FB47AE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19CS345 Course Project </a:t>
            </a:r>
          </a:p>
        </p:txBody>
      </p:sp>
      <p:sp>
        <p:nvSpPr>
          <p:cNvPr id="7" name="Slide Number Placeholder 6">
            <a:extLst xmlns:a="http://schemas.openxmlformats.org/drawingml/2006/main">
              <a:ext uri="{FF2B5EF4-FFF2-40B4-BE49-F238E27FC236}">
                <a16:creationId xmlns:a16="http://schemas.microsoft.com/office/drawing/2014/main" id="{E2A0E09F-0F32-5644-881A-A61CD82461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13b94e5f8b3a446d" /><Relationship Type="http://schemas.openxmlformats.org/officeDocument/2006/relationships/theme" Target="/ppt/slideMasters/theme/theme2.xml" Id="R5ab0439114614862" /><Relationship Type="http://schemas.openxmlformats.org/officeDocument/2006/relationships/slideLayout" Target="/ppt/slideLayouts/slideLayout1.xml" Id="R172d0095bc2c4101" /><Relationship Type="http://schemas.openxmlformats.org/officeDocument/2006/relationships/slideLayout" Target="/ppt/slideLayouts/slideLayout2.xml" Id="R077ae75eac1d4aed" /><Relationship Type="http://schemas.openxmlformats.org/officeDocument/2006/relationships/slideLayout" Target="/ppt/slideLayouts/slideLayout3.xml" Id="R63eeced00c164926" /><Relationship Type="http://schemas.openxmlformats.org/officeDocument/2006/relationships/slideLayout" Target="/ppt/slideLayouts/slideLayout4.xml" Id="R8cf837d7cf2248d2" /><Relationship Type="http://schemas.openxmlformats.org/officeDocument/2006/relationships/slideLayout" Target="/ppt/slideLayouts/slideLayout5.xml" Id="Rd6f8123317154faf" /><Relationship Type="http://schemas.openxmlformats.org/officeDocument/2006/relationships/slideLayout" Target="/ppt/slideLayouts/slideLayout6.xml" Id="Rf1ae30a685a24f03" /><Relationship Type="http://schemas.openxmlformats.org/officeDocument/2006/relationships/slideLayout" Target="/ppt/slideLayouts/slideLayout7.xml" Id="R1cce89b7a8a14d7a" /><Relationship Type="http://schemas.openxmlformats.org/officeDocument/2006/relationships/slideLayout" Target="/ppt/slideLayouts/slideLayout8.xml" Id="R2596a1dca1b34ee5" /><Relationship Type="http://schemas.openxmlformats.org/officeDocument/2006/relationships/slideLayout" Target="/ppt/slideLayouts/slideLayout9.xml" Id="Rab67fe0771c84a3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26E61B7-8DCD-1544-BC5D-B4592F60C646}"/>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BAB61D9-7FB3-1343-9555-936FC6036D9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DC2A79E-2DF5-4E41-BDCF-90E9D26B7E0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CE5D4EB-D70A-4BCB-A2FA-346FB8170600}" type="datetime1">
              <a:t>10/23/2026</a:t>
            </a:fld>
            <a:endParaRPr/>
          </a:p>
        </p:txBody>
      </p:sp>
      <p:sp>
        <p:nvSpPr>
          <p:cNvPr id="5" name="Footer Placeholder 4">
            <a:extLst xmlns:a="http://schemas.openxmlformats.org/drawingml/2006/main">
              <a:ext uri="{FF2B5EF4-FFF2-40B4-BE49-F238E27FC236}">
                <a16:creationId xmlns:a16="http://schemas.microsoft.com/office/drawing/2014/main" id="{556D5DC5-E1CB-B84F-BCAB-EB319B371817}"/>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19CS345 Course Project </a:t>
            </a:r>
          </a:p>
        </p:txBody>
      </p:sp>
      <p:sp>
        <p:nvSpPr>
          <p:cNvPr id="6" name="Slide Number Placeholder 5">
            <a:extLst xmlns:a="http://schemas.openxmlformats.org/drawingml/2006/main">
              <a:ext uri="{FF2B5EF4-FFF2-40B4-BE49-F238E27FC236}">
                <a16:creationId xmlns:a16="http://schemas.microsoft.com/office/drawing/2014/main" id="{C9712A2C-5C91-4B43-A114-209348A10C9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102F0E29-F314-934F-92DB-8EEB8DA68833}" type="slidenum">
              <a:t>‹#›</a:t>
            </a:fld>
            <a:endParaRPr/>
          </a:p>
        </p:txBody>
      </p:sp>
      <p:pic>
        <p:nvPicPr>
          <p:cNvPr id="8" name="Google Shape;10;p1">
            <a:extLst xmlns:a="http://schemas.openxmlformats.org/drawingml/2006/main">
              <a:ext uri="{FF2B5EF4-FFF2-40B4-BE49-F238E27FC236}">
                <a16:creationId xmlns:a16="http://schemas.microsoft.com/office/drawing/2014/main" id="{5FF488A1-EB77-4576-842C-580329417D6D}"/>
              </a:ext>
            </a:extLst>
          </p:cNvPr>
          <p:cNvPicPr>
            <a:picLocks xmlns:a="http://schemas.openxmlformats.org/drawingml/2006/main" noChangeAspect="1"/>
          </p:cNvPicPr>
          <p:nvPr/>
        </p:nvPicPr>
        <p:blipFill>
          <a:blip xmlns:r="http://schemas.openxmlformats.org/officeDocument/2006/relationships" xmlns:a="http://schemas.openxmlformats.org/drawingml/2006/main" r:embed="R13b94e5f8b3a446d">
            <a:alphaModFix/>
          </a:blip>
          <a:stretch xmlns:a="http://schemas.openxmlformats.org/drawingml/2006/main">
            <a:fillRect l="0" t="0" r="0" b="0"/>
          </a:stretch>
        </p:blipFill>
        <p:spPr>
          <a:xfrm xmlns:a="http://schemas.openxmlformats.org/drawingml/2006/main" rot="0" flipH="0" flipV="0">
            <a:off x="11014275" y="250926"/>
            <a:ext cx="731192" cy="228259"/>
          </a:xfrm>
          <a:prstGeom xmlns:a="http://schemas.openxmlformats.org/drawingml/2006/main" prst="rect">
            <a:avLst/>
          </a:prstGeom>
          <a:ln xmlns:a="http://schemas.openxmlformats.org/drawingml/2006/main">
            <a:noFill/>
          </a:ln>
        </p:spPr>
      </p:pic>
      <p:cxnSp>
        <p:nvCxnSpPr>
          <p:cNvPr id="9" name="Google Shape;11;p1">
            <a:extLst xmlns:a="http://schemas.openxmlformats.org/drawingml/2006/main">
              <a:ext uri="{FF2B5EF4-FFF2-40B4-BE49-F238E27FC236}">
                <a16:creationId xmlns:a16="http://schemas.microsoft.com/office/drawing/2014/main" id="{81946D1E-E1CB-485E-9755-D29A3871BF4E}"/>
              </a:ext>
            </a:extLst>
          </p:cNvPr>
          <p:cNvCxnSpPr/>
          <p:nvPr/>
        </p:nvCxnSpPr>
        <p:spPr>
          <a:xfrm xmlns:a="http://schemas.openxmlformats.org/drawingml/2006/main" rot="0" flipH="0" flipV="0">
            <a:off x="10962132" y="226826"/>
            <a:ext cx="0" cy="276600"/>
          </a:xfrm>
          <a:prstGeom xmlns:a="http://schemas.openxmlformats.org/drawingml/2006/main" prst="straightConnector1">
            <a:avLst/>
          </a:prstGeom>
          <a:ln xmlns:a="http://schemas.openxmlformats.org/drawingml/2006/main" w="9525" cap="flat">
            <a:solidFill>
              <a:srgbClr val="B7B7B7"/>
            </a:solidFill>
            <a:prstDash val="solid"/>
            <a:round/>
            <a:headEnd type="none" w="med" len="med"/>
            <a:tailEnd type="none" w="med" len="med"/>
          </a:ln>
        </p:spPr>
      </p:cxn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2d0095bc2c4101"/>
    <p:sldLayoutId xmlns:r="http://schemas.openxmlformats.org/officeDocument/2006/relationships" id="2147483650" r:id="R077ae75eac1d4aed"/>
    <p:sldLayoutId xmlns:r="http://schemas.openxmlformats.org/officeDocument/2006/relationships" id="2147483651" r:id="R63eeced00c164926"/>
    <p:sldLayoutId xmlns:r="http://schemas.openxmlformats.org/officeDocument/2006/relationships" id="2147483652" r:id="R8cf837d7cf2248d2"/>
    <p:sldLayoutId xmlns:r="http://schemas.openxmlformats.org/officeDocument/2006/relationships" id="2147483653" r:id="Rd6f8123317154faf"/>
    <p:sldLayoutId xmlns:r="http://schemas.openxmlformats.org/officeDocument/2006/relationships" id="2147483654" r:id="Rf1ae30a685a24f03"/>
    <p:sldLayoutId xmlns:r="http://schemas.openxmlformats.org/officeDocument/2006/relationships" id="2147483655" r:id="R1cce89b7a8a14d7a"/>
    <p:sldLayoutId xmlns:r="http://schemas.openxmlformats.org/officeDocument/2006/relationships" id="2147483656" r:id="R2596a1dca1b34ee5"/>
    <p:sldLayoutId xmlns:r="http://schemas.openxmlformats.org/officeDocument/2006/relationships" id="2147483657" r:id="Rab67fe0771c84a33"/>
  </p:sldLayoutIdLst>
  <p:hf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e10051556284d3c" /><Relationship Type="http://schemas.openxmlformats.org/officeDocument/2006/relationships/image" Target="/ppt/media/image2.png" Id="R0a43b0da38c34616" /><Relationship Type="http://schemas.openxmlformats.org/officeDocument/2006/relationships/notesSlide" Target="/ppt/notesSlides/notesSlide1.xml" Id="Raed3b58058b142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94527cbdff14e0d" /><Relationship Type="http://schemas.openxmlformats.org/officeDocument/2006/relationships/image" Target="/ppt/media/image2.png" Id="Rc0a814a45d2d435e" /><Relationship Type="http://schemas.openxmlformats.org/officeDocument/2006/relationships/notesSlide" Target="/ppt/notesSlides/notesSlide2.xml" Id="Re98cb063385143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b08c9c0919b4e18" /><Relationship Type="http://schemas.openxmlformats.org/officeDocument/2006/relationships/image" Target="/ppt/media/image2.png" Id="R48242cc0363543b9" /><Relationship Type="http://schemas.openxmlformats.org/officeDocument/2006/relationships/notesSlide" Target="/ppt/notesSlides/notesSlide3.xml" Id="R8d2fda5d6d734a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6685696c19d46c9" /><Relationship Type="http://schemas.openxmlformats.org/officeDocument/2006/relationships/image" Target="/ppt/media/image2.png" Id="Rabcab98a960b4197" /><Relationship Type="http://schemas.openxmlformats.org/officeDocument/2006/relationships/notesSlide" Target="/ppt/notesSlides/notesSlide4.xml" Id="Ra72d0afbb17a4b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bcb4937c92ef433b" /><Relationship Type="http://schemas.openxmlformats.org/officeDocument/2006/relationships/image" Target="/ppt/media/image2.png" Id="R84e8e1318c0e4181" /><Relationship Type="http://schemas.openxmlformats.org/officeDocument/2006/relationships/notesSlide" Target="/ppt/notesSlides/notesSlide5.xml" Id="R9f826f6dd16f4d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d712c2bb679416e" /><Relationship Type="http://schemas.openxmlformats.org/officeDocument/2006/relationships/image" Target="/ppt/media/image2.png" Id="Rded0a46ac0d04046" /><Relationship Type="http://schemas.openxmlformats.org/officeDocument/2006/relationships/chart" Target="/ppt/slides/charts/chart1.xml" Id="Ra58e3a95cdb24ef8" /><Relationship Type="http://schemas.openxmlformats.org/officeDocument/2006/relationships/notesSlide" Target="/ppt/notesSlides/notesSlide6.xml" Id="R995cec57a86c48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2b2e022e8eee4db9" /><Relationship Type="http://schemas.openxmlformats.org/officeDocument/2006/relationships/image" Target="/ppt/media/image2.png" Id="R2a6cb20e28254c70" /><Relationship Type="http://schemas.openxmlformats.org/officeDocument/2006/relationships/notesSlide" Target="/ppt/notesSlides/notesSlide7.xml" Id="Rf04728ee659948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d38615fc9be4d2d" /><Relationship Type="http://schemas.openxmlformats.org/officeDocument/2006/relationships/image" Target="/ppt/media/image2.png" Id="Rc03a2d6a7ef44f6f" /><Relationship Type="http://schemas.openxmlformats.org/officeDocument/2006/relationships/notesSlide" Target="/ppt/notesSlides/notesSlide8.xml" Id="Rdc6472c517b54d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8e8cb21ec06b4ac9" /><Relationship Type="http://schemas.openxmlformats.org/officeDocument/2006/relationships/image" Target="/ppt/media/image2.png" Id="Rdc21660899634984" /><Relationship Type="http://schemas.openxmlformats.org/officeDocument/2006/relationships/notesSlide" Target="/ppt/notesSlides/notesSlide9.xml" Id="R7cae6efcdaab40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b45d2549b2c440e" /><Relationship Type="http://schemas.openxmlformats.org/officeDocument/2006/relationships/image" Target="/ppt/media/image2.png" Id="Rccd2ea9e316144a0" /><Relationship Type="http://schemas.openxmlformats.org/officeDocument/2006/relationships/notesSlide" Target="/ppt/notesSlides/notesSlide10.xml" Id="Rbeed0a0c669f42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62b32f998bfd4886" /><Relationship Type="http://schemas.openxmlformats.org/officeDocument/2006/relationships/image" Target="/ppt/media/image2.png" Id="Rff72d84e335f4890" /><Relationship Type="http://schemas.openxmlformats.org/officeDocument/2006/relationships/notesSlide" Target="/ppt/notesSlides/notesSlide11.xml" Id="Reba423d8dab84ef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t>Next-token prediction loss</a:t>
            </a:r>
          </a:p>
        </c:rich>
      </c:tx>
      <c:overlay val="0"/>
      <c:txPr>
        <a:bodyPr xmlns:a="http://schemas.openxmlformats.org/drawingml/2006/main" anchorCtr="1"/>
        <a:lstStyle xmlns:a="http://schemas.openxmlformats.org/drawingml/2006/main"/>
        <a:p xmlns:a="http://schemas.openxmlformats.org/drawingml/2006/main">
          <a:pPr>
            <a:defRPr sz="1875"/>
          </a:pPr>
        </a:p>
      </c:txPr>
    </c:title>
    <c:plotArea>
      <c:lineChart>
        <c:grouping val="standard"/>
        <c:varyColors val="0"/>
        <c:ser>
          <c:idx val="0"/>
          <c:order val="0"/>
          <c:tx>
            <c:v>Training subset</c:v>
          </c:tx>
          <c:spPr>
            <a:ln xmlns:a="http://schemas.openxmlformats.org/drawingml/2006/main" w="28575">
              <a:solidFill>
                <a:srgbClr val="0033CC"/>
              </a:solidFill>
            </a:ln>
          </c:spPr>
          <c:marker>
            <c:symbol val="none"/>
          </c:marker>
          <c:cat>
            <c:numRef>
              <c:f>'Chart Data'!$A$2:$A$8</c:f>
              <c:numCache>
                <c:formatCode>General</c:formatCode>
                <c:ptCount val="7"/>
                <c:pt idx="0">
                  <c:v>0</c:v>
                </c:pt>
                <c:pt idx="1">
                  <c:v>50</c:v>
                </c:pt>
                <c:pt idx="2">
                  <c:v>100</c:v>
                </c:pt>
                <c:pt idx="3">
                  <c:v>150</c:v>
                </c:pt>
                <c:pt idx="4">
                  <c:v>200</c:v>
                </c:pt>
                <c:pt idx="5">
                  <c:v>250</c:v>
                </c:pt>
                <c:pt idx="6">
                  <c:v>300</c:v>
                </c:pt>
              </c:numCache>
            </c:numRef>
          </c:cat>
          <c:val>
            <c:numRef>
              <c:f>'Chart Data'!$B$2:$B$8</c:f>
              <c:numCache>
                <c:formatCode>0.0</c:formatCode>
                <c:ptCount val="7"/>
                <c:pt idx="0">
                  <c:v>6.9659</c:v>
                </c:pt>
                <c:pt idx="1">
                  <c:v>6.0754</c:v>
                </c:pt>
                <c:pt idx="2">
                  <c:v>5.5011</c:v>
                </c:pt>
                <c:pt idx="3">
                  <c:v>5.1109</c:v>
                </c:pt>
                <c:pt idx="4">
                  <c:v>4.8512</c:v>
                </c:pt>
                <c:pt idx="5">
                  <c:v>4.6475</c:v>
                </c:pt>
                <c:pt idx="6">
                  <c:v>4.4891</c:v>
                </c:pt>
              </c:numCache>
            </c:numRef>
          </c:val>
        </c:ser>
        <c:ser>
          <c:idx val="1"/>
          <c:order val="1"/>
          <c:tx>
            <c:v>Validation</c:v>
          </c:tx>
          <c:spPr>
            <a:ln xmlns:a="http://schemas.openxmlformats.org/drawingml/2006/main" w="28575">
              <a:solidFill>
                <a:srgbClr val="E66B21"/>
              </a:solidFill>
            </a:ln>
          </c:spPr>
          <c:marker>
            <c:symbol val="none"/>
          </c:marker>
          <c:cat>
            <c:numRef>
              <c:f>'Chart Data'!$C$2:$C$8</c:f>
              <c:numCache>
                <c:formatCode>General</c:formatCode>
                <c:ptCount val="7"/>
                <c:pt idx="0">
                  <c:v>0</c:v>
                </c:pt>
                <c:pt idx="1">
                  <c:v>50</c:v>
                </c:pt>
                <c:pt idx="2">
                  <c:v>100</c:v>
                </c:pt>
                <c:pt idx="3">
                  <c:v>150</c:v>
                </c:pt>
                <c:pt idx="4">
                  <c:v>200</c:v>
                </c:pt>
                <c:pt idx="5">
                  <c:v>250</c:v>
                </c:pt>
                <c:pt idx="6">
                  <c:v>300</c:v>
                </c:pt>
              </c:numCache>
            </c:numRef>
          </c:cat>
          <c:val>
            <c:numRef>
              <c:f>'Chart Data'!$D$2:$D$8</c:f>
              <c:numCache>
                <c:formatCode>0.0</c:formatCode>
                <c:ptCount val="7"/>
                <c:pt idx="0">
                  <c:v>6.9662</c:v>
                </c:pt>
                <c:pt idx="1">
                  <c:v>6.0642</c:v>
                </c:pt>
                <c:pt idx="2">
                  <c:v>5.5687</c:v>
                </c:pt>
                <c:pt idx="3">
                  <c:v>5.2072</c:v>
                </c:pt>
                <c:pt idx="4">
                  <c:v>4.9958</c:v>
                </c:pt>
                <c:pt idx="5">
                  <c:v>4.8322</c:v>
                </c:pt>
                <c:pt idx="6">
                  <c:v>4.7414</c:v>
                </c:pt>
              </c:numCache>
            </c:numRef>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Optimizer steps</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Loss (nats)</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1EE0C18-429D-498E-8D12-C98B05031555}"/>
              </a:ext>
            </a:extLst>
          </p:cNvPr>
          <p:cNvSpPr>
            <a:spLocks xmlns:a="http://schemas.openxmlformats.org/drawingml/2006/main" noGrp="1"/>
          </p:cNvSpPr>
          <p:nvPr/>
        </p:nvSpPr>
        <p:spPr>
          <a:xfrm xmlns:a="http://schemas.openxmlformats.org/drawingml/2006/main">
            <a:off x="323850" y="571500"/>
            <a:ext cx="10477500" cy="480060"/>
          </a:xfrm>
          <a:prstGeom xmlns:a="http://schemas.openxmlformats.org/drawingml/2006/main" prst="rect">
            <a:avLst/>
          </a:prstGeom>
        </p:spPr>
        <p:txBody>
          <a:bodyPr xmlns:a="http://schemas.openxmlformats.org/drawingml/2006/main">
            <a:spAutoFit/>
          </a:bodyPr>
          <a:lstStyle xmlns:a="http://schemas.openxmlformats.org/drawingml/2006/main">
            <a:defPPr algn="l">
              <a:defRPr sz="2550" b="1">
                <a:solidFill>
                  <a:srgbClr val="FF0000"/>
                </a:solidFill>
              </a:defRPr>
            </a:defPPr>
            <a:lvl1pPr algn="l">
              <a:defRPr sz="2550" b="1">
                <a:solidFill>
                  <a:srgbClr val="FF0000"/>
                </a:solidFill>
              </a:defRPr>
            </a:lvl1pPr>
            <a:lvl2pPr algn="l">
              <a:defRPr sz="2550" b="1">
                <a:solidFill>
                  <a:srgbClr val="FF0000"/>
                </a:solidFill>
              </a:defRPr>
            </a:lvl2pPr>
            <a:lvl3pPr algn="l">
              <a:defRPr sz="2550" b="1">
                <a:solidFill>
                  <a:srgbClr val="FF0000"/>
                </a:solidFill>
              </a:defRPr>
            </a:lvl3pPr>
            <a:lvl4pPr algn="l">
              <a:defRPr sz="2550" b="1">
                <a:solidFill>
                  <a:srgbClr val="FF0000"/>
                </a:solidFill>
              </a:defRPr>
            </a:lvl4pPr>
            <a:lvl5pPr algn="l">
              <a:defRPr sz="2550" b="1">
                <a:solidFill>
                  <a:srgbClr val="FF0000"/>
                </a:solidFill>
              </a:defRPr>
            </a:lvl5pPr>
            <a:lvl6pPr algn="l">
              <a:defRPr sz="2550" b="1">
                <a:solidFill>
                  <a:srgbClr val="FF0000"/>
                </a:solidFill>
              </a:defRPr>
            </a:lvl6pPr>
            <a:lvl7pPr algn="l">
              <a:defRPr sz="2550" b="1">
                <a:solidFill>
                  <a:srgbClr val="FF0000"/>
                </a:solidFill>
              </a:defRPr>
            </a:lvl7pPr>
            <a:lvl8pPr algn="l">
              <a:defRPr sz="2550" b="1">
                <a:solidFill>
                  <a:srgbClr val="FF0000"/>
                </a:solidFill>
              </a:defRPr>
            </a:lvl8pPr>
            <a:lvl9pPr algn="l">
              <a:defRPr sz="2550" b="1">
                <a:solidFill>
                  <a:srgbClr val="FF0000"/>
                </a:solidFill>
              </a:defRPr>
            </a:lvl9pPr>
          </a:lstStyle>
          <a:p xmlns:a="http://schemas.openxmlformats.org/drawingml/2006/main">
            <a:pPr marL="342891" indent="-342891" algn="l">
              <a:buNone/>
              <a:defRPr sz="2550" b="1">
                <a:solidFill>
                  <a:srgbClr val="FF0000"/>
                </a:solidFill>
              </a:defRPr>
            </a:pPr>
            <a:r>
              <a:rPr sz="2550" b="1">
                <a:solidFill>
                  <a:srgbClr val="FF0000"/>
                </a:solidFill>
                <a:latin typeface="Trebuchet MS"/>
                <a:ea typeface="Trebuchet MS"/>
                <a:cs typeface="Trebuchet MS"/>
              </a:rPr>
              <a:t>UE24AM342AA1 – Advanced Foundations in Machine Learning</a:t>
            </a:r>
            <a:endParaRPr sz="2800" b="1">
              <a:solidFill>
                <a:srgbClr val="FF0000"/>
              </a:solidFill>
              <a:latin typeface="Trebuchet MS"/>
              <a:ea typeface="Trebuchet MS"/>
              <a:cs typeface="Trebuchet MS"/>
            </a:endParaRPr>
          </a:p>
        </p:txBody>
      </p:sp>
      <p:sp>
        <p:nvSpPr>
          <p:cNvPr id="4" name="Google Shape;26;p3">
            <a:extLst xmlns:a="http://schemas.openxmlformats.org/drawingml/2006/main">
              <a:ext uri="{FF2B5EF4-FFF2-40B4-BE49-F238E27FC236}">
                <a16:creationId xmlns:a16="http://schemas.microsoft.com/office/drawing/2014/main" id="{7F1A8647-9E57-492A-BED6-A2197D6A8B6A}"/>
              </a:ext>
            </a:extLst>
          </p:cNvPr>
          <p:cNvSpPr>
            <a:spLocks xmlns:a="http://schemas.openxmlformats.org/drawingml/2006/main" noGrp="1"/>
          </p:cNvSpPr>
          <p:nvPr/>
        </p:nvSpPr>
        <p:spPr>
          <a:xfrm xmlns:a="http://schemas.openxmlformats.org/drawingml/2006/main">
            <a:off x="762000" y="1952625"/>
            <a:ext cx="10477500" cy="1095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lIns="91425" tIns="45700" rIns="91425" bIns="45700" anchor="t">
            <a:noAutofit/>
          </a:bodyPr>
          <a:lstStyle xmlns:a="http://schemas.openxmlformats.org/drawingml/2006/main">
            <a:defPPr algn="l">
              <a:defRPr sz="2700" b="1">
                <a:solidFill>
                  <a:srgbClr val="0033CC"/>
                </a:solidFill>
              </a:defRPr>
            </a:defPPr>
            <a:lvl1pPr algn="l">
              <a:defRPr sz="2700" b="1">
                <a:solidFill>
                  <a:srgbClr val="0033CC"/>
                </a:solidFill>
              </a:defRPr>
            </a:lvl1pPr>
            <a:lvl2pPr algn="l">
              <a:defRPr sz="2700" b="1">
                <a:solidFill>
                  <a:srgbClr val="0033CC"/>
                </a:solidFill>
              </a:defRPr>
            </a:lvl2pPr>
            <a:lvl3pPr algn="l">
              <a:defRPr sz="2700" b="1">
                <a:solidFill>
                  <a:srgbClr val="0033CC"/>
                </a:solidFill>
              </a:defRPr>
            </a:lvl3pPr>
            <a:lvl4pPr algn="l">
              <a:defRPr sz="2700" b="1">
                <a:solidFill>
                  <a:srgbClr val="0033CC"/>
                </a:solidFill>
              </a:defRPr>
            </a:lvl4pPr>
            <a:lvl5pPr algn="l">
              <a:defRPr sz="2700" b="1">
                <a:solidFill>
                  <a:srgbClr val="0033CC"/>
                </a:solidFill>
              </a:defRPr>
            </a:lvl5pPr>
            <a:lvl6pPr algn="l">
              <a:defRPr sz="2700" b="1">
                <a:solidFill>
                  <a:srgbClr val="0033CC"/>
                </a:solidFill>
              </a:defRPr>
            </a:lvl6pPr>
            <a:lvl7pPr algn="l">
              <a:defRPr sz="2700" b="1">
                <a:solidFill>
                  <a:srgbClr val="0033CC"/>
                </a:solidFill>
              </a:defRPr>
            </a:lvl7pPr>
            <a:lvl8pPr algn="l">
              <a:defRPr sz="2700" b="1">
                <a:solidFill>
                  <a:srgbClr val="0033CC"/>
                </a:solidFill>
              </a:defRPr>
            </a:lvl8pPr>
            <a:lvl9pPr algn="l">
              <a:defRPr sz="2700" b="1">
                <a:solidFill>
                  <a:srgbClr val="0033CC"/>
                </a:solidFill>
              </a:defRPr>
            </a:lvl9pPr>
          </a:lstStyle>
          <a:p xmlns:a="http://schemas.openxmlformats.org/drawingml/2006/main">
            <a:pPr algn="l">
              <a:spcBef>
                <a:spcPts val="0"/>
              </a:spcBef>
              <a:spcAft>
                <a:spcPts val="0"/>
              </a:spcAft>
              <a:buNone/>
              <a:defRPr sz="2700" b="1">
                <a:solidFill>
                  <a:srgbClr val="0033CC"/>
                </a:solidFill>
              </a:defRPr>
            </a:pPr>
            <a:r>
              <a:rPr sz="2700" b="1">
                <a:solidFill>
                  <a:srgbClr val="0033CC"/>
                </a:solidFill>
                <a:latin typeface="Trebuchet MS"/>
                <a:ea typeface="Trebuchet MS"/>
                <a:cs typeface="Trebuchet MS"/>
              </a:rPr>
              <a:t>Swapping Attention for Selective State Spaces</a:t>
            </a:r>
          </a:p>
          <a:p xmlns:a="http://schemas.openxmlformats.org/drawingml/2006/main">
            <a:pPr algn="l">
              <a:spcBef>
                <a:spcPts val="0"/>
              </a:spcBef>
              <a:spcAft>
                <a:spcPts val="0"/>
              </a:spcAft>
              <a:buNone/>
              <a:defRPr sz="2700" b="1">
                <a:solidFill>
                  <a:srgbClr val="0033CC"/>
                </a:solidFill>
              </a:defRPr>
            </a:pPr>
            <a:r>
              <a:rPr sz="2700" b="1">
                <a:solidFill>
                  <a:srgbClr val="0033CC"/>
                </a:solidFill>
              </a:rPr>
              <a:t>Training and Evaluating a Mamba-Style SLM</a:t>
            </a:r>
            <a:endParaRPr sz="2400">
              <a:solidFill>
                <a:srgbClr val="0033CC"/>
              </a:solidFill>
              <a:latin typeface="Trebuchet MS"/>
              <a:ea typeface="Trebuchet MS"/>
              <a:cs typeface="Trebuchet MS"/>
            </a:endParaRPr>
          </a:p>
        </p:txBody>
      </p:sp>
      <p:sp>
        <p:nvSpPr>
          <p:cNvPr id="3" name="Footer Placeholder 2">
            <a:extLst xmlns:a="http://schemas.openxmlformats.org/drawingml/2006/main">
              <a:ext uri="{FF2B5EF4-FFF2-40B4-BE49-F238E27FC236}">
                <a16:creationId xmlns:a16="http://schemas.microsoft.com/office/drawing/2014/main" id="{B9FB7E10-AE1E-419F-91D7-5E56DF114F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UE24AM342AA1 Course Project </a:t>
            </a:r>
          </a:p>
        </p:txBody>
      </p:sp>
      <p:sp>
        <p:nvSpPr>
          <p:cNvPr id="5" name="Slide Number Placeholder 4">
            <a:extLst xmlns:a="http://schemas.openxmlformats.org/drawingml/2006/main">
              <a:ext uri="{FF2B5EF4-FFF2-40B4-BE49-F238E27FC236}">
                <a16:creationId xmlns:a16="http://schemas.microsoft.com/office/drawing/2014/main" id="{C20D95E7-8B98-44F6-8C2D-B47133ABC0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1</a:t>
            </a:fld>
            <a:endParaRPr/>
          </a:p>
        </p:txBody>
      </p:sp>
      <p:pic>
        <p:nvPicPr>
          <p:cNvPr id="7" name="Picture 12">
            <a:extLst xmlns:a="http://schemas.openxmlformats.org/drawingml/2006/main">
              <a:ext uri="{FF2B5EF4-FFF2-40B4-BE49-F238E27FC236}">
                <a16:creationId xmlns:a16="http://schemas.microsoft.com/office/drawing/2014/main" id="{181CCCAC-EC92-42C4-9FB3-E692E4AA75A0}"/>
              </a:ext>
            </a:extLst>
          </p:cNvPr>
          <p:cNvPicPr>
            <a:picLocks xmlns:a="http://schemas.openxmlformats.org/drawingml/2006/main" noChangeAspect="1"/>
          </p:cNvPicPr>
          <p:nvPr/>
        </p:nvPicPr>
        <p:blipFill>
          <a:blip xmlns:r="http://schemas.openxmlformats.org/officeDocument/2006/relationships" xmlns:a="http://schemas.openxmlformats.org/drawingml/2006/main" r:embed="R0a43b0da38c34616"/>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8" name="">
            <a:extLst xmlns:a="http://schemas.openxmlformats.org/drawingml/2006/main">
              <a:ext uri="{FF2B5EF4-FFF2-40B4-BE49-F238E27FC236}">
                <a16:creationId xmlns:a16="http://schemas.microsoft.com/office/drawing/2014/main" id="{7BBE0522-0661-41D3-9AA4-C6B3CE3E146D}"/>
              </a:ext>
            </a:extLst>
          </p:cNvPr>
          <p:cNvSpPr>
            <a:spLocks xmlns:a="http://schemas.openxmlformats.org/drawingml/2006/main" noGrp="1"/>
          </p:cNvSpPr>
          <p:nvPr/>
        </p:nvSpPr>
        <p:spPr>
          <a:xfrm xmlns:a="http://schemas.openxmlformats.org/drawingml/2006/main">
            <a:off x="762000" y="32861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0">
                <a:solidFill>
                  <a:srgbClr val="0033CC"/>
                </a:solidFill>
              </a:defRPr>
            </a:defPPr>
            <a:lvl1pPr algn="l">
              <a:defRPr sz="2250" b="0">
                <a:solidFill>
                  <a:srgbClr val="0033CC"/>
                </a:solidFill>
              </a:defRPr>
            </a:lvl1pPr>
            <a:lvl2pPr algn="l">
              <a:defRPr sz="2250" b="0">
                <a:solidFill>
                  <a:srgbClr val="0033CC"/>
                </a:solidFill>
              </a:defRPr>
            </a:lvl2pPr>
            <a:lvl3pPr algn="l">
              <a:defRPr sz="2250" b="0">
                <a:solidFill>
                  <a:srgbClr val="0033CC"/>
                </a:solidFill>
              </a:defRPr>
            </a:lvl3pPr>
            <a:lvl4pPr algn="l">
              <a:defRPr sz="2250" b="0">
                <a:solidFill>
                  <a:srgbClr val="0033CC"/>
                </a:solidFill>
              </a:defRPr>
            </a:lvl4pPr>
            <a:lvl5pPr algn="l">
              <a:defRPr sz="2250" b="0">
                <a:solidFill>
                  <a:srgbClr val="0033CC"/>
                </a:solidFill>
              </a:defRPr>
            </a:lvl5pPr>
            <a:lvl6pPr algn="l">
              <a:defRPr sz="2250" b="0">
                <a:solidFill>
                  <a:srgbClr val="0033CC"/>
                </a:solidFill>
              </a:defRPr>
            </a:lvl6pPr>
            <a:lvl7pPr algn="l">
              <a:defRPr sz="2250" b="0">
                <a:solidFill>
                  <a:srgbClr val="0033CC"/>
                </a:solidFill>
              </a:defRPr>
            </a:lvl7pPr>
            <a:lvl8pPr algn="l">
              <a:defRPr sz="2250" b="0">
                <a:solidFill>
                  <a:srgbClr val="0033CC"/>
                </a:solidFill>
              </a:defRPr>
            </a:lvl8pPr>
            <a:lvl9pPr algn="l">
              <a:defRPr sz="2250" b="0">
                <a:solidFill>
                  <a:srgbClr val="0033CC"/>
                </a:solidFill>
              </a:defRPr>
            </a:lvl9pPr>
          </a:lstStyle>
          <a:p xmlns:a="http://schemas.openxmlformats.org/drawingml/2006/main">
            <a:pPr algn="l">
              <a:defRPr sz="2250" b="0">
                <a:solidFill>
                  <a:srgbClr val="0033CC"/>
                </a:solidFill>
              </a:defRPr>
            </a:pPr>
            <a:r>
              <a:rPr sz="2250" b="0">
                <a:solidFill>
                  <a:srgbClr val="0033CC"/>
                </a:solidFill>
              </a:rPr>
              <a:t>Review 1: initial Transformer baseline</a:t>
            </a:r>
          </a:p>
        </p:txBody>
      </p:sp>
      <p:sp>
        <p:nvSpPr>
          <p:cNvPr id="9" name="">
            <a:extLst xmlns:a="http://schemas.openxmlformats.org/drawingml/2006/main">
              <a:ext uri="{FF2B5EF4-FFF2-40B4-BE49-F238E27FC236}">
                <a16:creationId xmlns:a16="http://schemas.microsoft.com/office/drawing/2014/main" id="{74DD80D2-8C4C-44B7-A188-082C7862ACD5}"/>
              </a:ext>
            </a:extLst>
          </p:cNvPr>
          <p:cNvSpPr>
            <a:spLocks xmlns:a="http://schemas.openxmlformats.org/drawingml/2006/main" noGrp="1"/>
          </p:cNvSpPr>
          <p:nvPr/>
        </p:nvSpPr>
        <p:spPr>
          <a:xfrm xmlns:a="http://schemas.openxmlformats.org/drawingml/2006/main">
            <a:off x="762000" y="3981450"/>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33CC"/>
                </a:solidFill>
              </a:defRPr>
            </a:defPPr>
            <a:lvl1pPr algn="l">
              <a:defRPr sz="1875" b="0">
                <a:solidFill>
                  <a:srgbClr val="0033CC"/>
                </a:solidFill>
              </a:defRPr>
            </a:lvl1pPr>
            <a:lvl2pPr algn="l">
              <a:defRPr sz="1875" b="0">
                <a:solidFill>
                  <a:srgbClr val="0033CC"/>
                </a:solidFill>
              </a:defRPr>
            </a:lvl2pPr>
            <a:lvl3pPr algn="l">
              <a:defRPr sz="1875" b="0">
                <a:solidFill>
                  <a:srgbClr val="0033CC"/>
                </a:solidFill>
              </a:defRPr>
            </a:lvl3pPr>
            <a:lvl4pPr algn="l">
              <a:defRPr sz="1875" b="0">
                <a:solidFill>
                  <a:srgbClr val="0033CC"/>
                </a:solidFill>
              </a:defRPr>
            </a:lvl4pPr>
            <a:lvl5pPr algn="l">
              <a:defRPr sz="1875" b="0">
                <a:solidFill>
                  <a:srgbClr val="0033CC"/>
                </a:solidFill>
              </a:defRPr>
            </a:lvl5pPr>
            <a:lvl6pPr algn="l">
              <a:defRPr sz="1875" b="0">
                <a:solidFill>
                  <a:srgbClr val="0033CC"/>
                </a:solidFill>
              </a:defRPr>
            </a:lvl6pPr>
            <a:lvl7pPr algn="l">
              <a:defRPr sz="1875" b="0">
                <a:solidFill>
                  <a:srgbClr val="0033CC"/>
                </a:solidFill>
              </a:defRPr>
            </a:lvl7pPr>
            <a:lvl8pPr algn="l">
              <a:defRPr sz="1875" b="0">
                <a:solidFill>
                  <a:srgbClr val="0033CC"/>
                </a:solidFill>
              </a:defRPr>
            </a:lvl8pPr>
            <a:lvl9pPr algn="l">
              <a:defRPr sz="1875" b="0">
                <a:solidFill>
                  <a:srgbClr val="0033CC"/>
                </a:solidFill>
              </a:defRPr>
            </a:lvl9pPr>
          </a:lstStyle>
          <a:p xmlns:a="http://schemas.openxmlformats.org/drawingml/2006/main">
            <a:pPr algn="l">
              <a:defRPr sz="1875" b="0">
                <a:solidFill>
                  <a:srgbClr val="0033CC"/>
                </a:solidFill>
              </a:defRPr>
            </a:pPr>
            <a:r>
              <a:rPr sz="1875" b="0">
                <a:solidFill>
                  <a:srgbClr val="0033CC"/>
                </a:solidFill>
              </a:rPr>
              <a:t>Krishna G Pai — PES1UG24AM372</a:t>
            </a:r>
          </a:p>
          <a:p xmlns:a="http://schemas.openxmlformats.org/drawingml/2006/main">
            <a:pPr algn="l">
              <a:defRPr sz="1875" b="0">
                <a:solidFill>
                  <a:srgbClr val="0033CC"/>
                </a:solidFill>
              </a:defRPr>
            </a:pPr>
            <a:r>
              <a:rPr sz="1875" b="0">
                <a:solidFill>
                  <a:srgbClr val="0033CC"/>
                </a:solidFill>
              </a:rPr>
              <a:t>Dikshith Varma M N — PES1UG24AM363</a:t>
            </a:r>
          </a:p>
          <a:p xmlns:a="http://schemas.openxmlformats.org/drawingml/2006/main">
            <a:pPr algn="l">
              <a:defRPr sz="1875" b="0">
                <a:solidFill>
                  <a:srgbClr val="0033CC"/>
                </a:solidFill>
              </a:defRPr>
            </a:pPr>
            <a:r>
              <a:rPr sz="1875" b="0">
                <a:solidFill>
                  <a:srgbClr val="0033CC"/>
                </a:solidFill>
              </a:rPr>
              <a:t>Gagandeep N — PES1UG24AM367</a:t>
            </a:r>
          </a:p>
          <a:p xmlns:a="http://schemas.openxmlformats.org/drawingml/2006/main">
            <a:pPr algn="l">
              <a:defRPr sz="1875" b="0">
                <a:solidFill>
                  <a:srgbClr val="0033CC"/>
                </a:solidFill>
              </a:defRPr>
            </a:pPr>
            <a:r>
              <a:rPr sz="1875" b="0">
                <a:solidFill>
                  <a:srgbClr val="0033CC"/>
                </a:solidFill>
              </a:rPr>
              <a:t>Mallikarjuna Rao R V — PES1UG24AM155</a:t>
            </a:r>
          </a:p>
        </p:txBody>
      </p:sp>
    </p:spTree>
    <p:extLst>
      <p:ext uri="{BB962C8B-B14F-4D97-AF65-F5344CB8AC3E}">
        <p14:creationId xmlns:p14="http://schemas.microsoft.com/office/powerpoint/2010/main" val="18711703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D9BD1C45-9117-43E3-97FB-22B09FCDD299}"/>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10" name="Content Placeholder 2">
            <a:extLst xmlns:a="http://schemas.openxmlformats.org/drawingml/2006/main">
              <a:ext uri="{FF2B5EF4-FFF2-40B4-BE49-F238E27FC236}">
                <a16:creationId xmlns:a16="http://schemas.microsoft.com/office/drawing/2014/main" id="{3D7971F7-10DB-4321-924E-3721085EB4BF}"/>
              </a:ext>
            </a:extLst>
          </p:cNvPr>
          <p:cNvSpPr>
            <a:spLocks xmlns:a="http://schemas.openxmlformats.org/drawingml/2006/main" noGrp="1"/>
          </p:cNvSpPr>
          <p:nvPr/>
        </p:nvSpPr>
        <p:spPr>
          <a:xfrm xmlns:a="http://schemas.openxmlformats.org/drawingml/2006/main">
            <a:off x="1143000" y="2190750"/>
            <a:ext cx="9906000" cy="2857500"/>
          </a:xfrm>
          <a:prstGeom xmlns:a="http://schemas.openxmlformats.org/drawingml/2006/main" prst="rect">
            <a:avLst/>
          </a:prstGeom>
        </p:spPr>
        <p:txBody>
          <a:bodyPr xmlns:a="http://schemas.openxmlformats.org/drawingml/2006/main"/>
          <a:lstStyle xmlns:a="http://schemas.openxmlformats.org/drawingml/2006/main">
            <a:defPPr algn="l">
              <a:defRPr sz="2400" b="0">
                <a:solidFill>
                  <a:srgbClr val="0033CC"/>
                </a:solidFill>
              </a:defRPr>
            </a:defPPr>
            <a:lvl1pPr algn="l">
              <a:defRPr sz="2400" b="0">
                <a:solidFill>
                  <a:srgbClr val="0033CC"/>
                </a:solidFill>
              </a:defRPr>
            </a:lvl1pPr>
            <a:lvl2pPr algn="l">
              <a:defRPr sz="2400" b="0">
                <a:solidFill>
                  <a:srgbClr val="0033CC"/>
                </a:solidFill>
              </a:defRPr>
            </a:lvl2pPr>
            <a:lvl3pPr algn="l">
              <a:defRPr sz="2400" b="0">
                <a:solidFill>
                  <a:srgbClr val="0033CC"/>
                </a:solidFill>
              </a:defRPr>
            </a:lvl3pPr>
            <a:lvl4pPr algn="l">
              <a:defRPr sz="2400" b="0">
                <a:solidFill>
                  <a:srgbClr val="0033CC"/>
                </a:solidFill>
              </a:defRPr>
            </a:lvl4pPr>
            <a:lvl5pPr algn="l">
              <a:defRPr sz="2400" b="0">
                <a:solidFill>
                  <a:srgbClr val="0033CC"/>
                </a:solidFill>
              </a:defRPr>
            </a:lvl5pPr>
            <a:lvl6pPr algn="l">
              <a:defRPr sz="2400" b="0">
                <a:solidFill>
                  <a:srgbClr val="0033CC"/>
                </a:solidFill>
              </a:defRPr>
            </a:lvl6pPr>
            <a:lvl7pPr algn="l">
              <a:defRPr sz="2400" b="0">
                <a:solidFill>
                  <a:srgbClr val="0033CC"/>
                </a:solidFill>
              </a:defRPr>
            </a:lvl7pPr>
            <a:lvl8pPr algn="l">
              <a:defRPr sz="2400" b="0">
                <a:solidFill>
                  <a:srgbClr val="0033CC"/>
                </a:solidFill>
              </a:defRPr>
            </a:lvl8pPr>
            <a:lvl9pPr algn="l">
              <a:defRPr sz="2400" b="0">
                <a:solidFill>
                  <a:srgbClr val="0033CC"/>
                </a:solidFill>
              </a:defRPr>
            </a:lvl9pPr>
          </a:lstStyle>
          <a:p xmlns:a="http://schemas.openxmlformats.org/drawingml/2006/main">
            <a:pPr marL="685791" indent="-342900" algn="l">
              <a:spcBef>
                <a:spcPts val="0"/>
              </a:spcBef>
              <a:spcAft>
                <a:spcPts val="0"/>
              </a:spcAft>
              <a:buFont typeface="Arial"/>
              <a:buChar char="•"/>
              <a:defRPr sz="2400" b="0">
                <a:solidFill>
                  <a:srgbClr val="0033CC"/>
                </a:solidFill>
              </a:defRPr>
            </a:pPr>
            <a:r>
              <a:rPr sz="2400" b="0">
                <a:solidFill>
                  <a:srgbClr val="0033CC"/>
                </a:solidFill>
                <a:latin typeface="Trebuchet MS"/>
                <a:ea typeface="Trebuchet MS"/>
                <a:cs typeface="Trebuchet MS"/>
              </a:rPr>
              <a:t>Train small models to predict the next token.</a:t>
            </a:r>
          </a:p>
          <a:p xmlns:a="http://schemas.openxmlformats.org/drawingml/2006/main">
            <a:pPr marL="685791" indent="-342900" algn="l">
              <a:spcBef>
                <a:spcPts val="0"/>
              </a:spcBef>
              <a:spcAft>
                <a:spcPts val="0"/>
              </a:spcAft>
              <a:buFont typeface="Arial"/>
              <a:buChar char="•"/>
              <a:defRPr sz="2400" b="0">
                <a:solidFill>
                  <a:srgbClr val="0033CC"/>
                </a:solidFill>
              </a:defRPr>
            </a:pPr>
            <a:r>
              <a:rPr sz="2400" b="0">
                <a:solidFill>
                  <a:srgbClr val="0033CC"/>
                </a:solidFill>
                <a:latin typeface="Trebuchet MS"/>
                <a:ea typeface="Trebuchet MS"/>
                <a:cs typeface="Trebuchet MS"/>
              </a:rPr>
              <a:t>Compare attention with selective state updates.</a:t>
            </a:r>
          </a:p>
          <a:p xmlns:a="http://schemas.openxmlformats.org/drawingml/2006/main">
            <a:pPr marL="685791" indent="-342900" algn="l">
              <a:spcBef>
                <a:spcPts val="0"/>
              </a:spcBef>
              <a:spcAft>
                <a:spcPts val="0"/>
              </a:spcAft>
              <a:buFont typeface="Arial"/>
              <a:buChar char="•"/>
              <a:defRPr sz="2400" b="0">
                <a:solidFill>
                  <a:srgbClr val="0033CC"/>
                </a:solidFill>
              </a:defRPr>
            </a:pPr>
            <a:r>
              <a:rPr sz="2400" b="0">
                <a:solidFill>
                  <a:srgbClr val="0033CC"/>
                </a:solidFill>
                <a:latin typeface="Trebuchet MS"/>
                <a:ea typeface="Trebuchet MS"/>
                <a:cs typeface="Trebuchet MS"/>
              </a:rPr>
              <a:t>Match model size, training text and token budget.</a:t>
            </a:r>
          </a:p>
          <a:p xmlns:a="http://schemas.openxmlformats.org/drawingml/2006/main">
            <a:pPr marL="685791" indent="-342900" algn="l">
              <a:spcBef>
                <a:spcPts val="0"/>
              </a:spcBef>
              <a:spcAft>
                <a:spcPts val="0"/>
              </a:spcAft>
              <a:buFont typeface="Arial"/>
              <a:buChar char="•"/>
              <a:defRPr sz="2400" b="0">
                <a:solidFill>
                  <a:srgbClr val="0033CC"/>
                </a:solidFill>
              </a:defRPr>
            </a:pPr>
            <a:r>
              <a:rPr sz="2400" b="0">
                <a:solidFill>
                  <a:srgbClr val="0033CC"/>
                </a:solidFill>
                <a:latin typeface="Trebuchet MS"/>
                <a:ea typeface="Trebuchet MS"/>
                <a:cs typeface="Trebuchet MS"/>
              </a:rPr>
              <a:t>Measure prediction quality, speed and memory.</a:t>
            </a:r>
          </a:p>
        </p:txBody>
      </p:sp>
      <p:sp>
        <p:nvSpPr>
          <p:cNvPr id="14" name="Text Box 34">
            <a:extLst xmlns:a="http://schemas.openxmlformats.org/drawingml/2006/main">
              <a:ext uri="{FF2B5EF4-FFF2-40B4-BE49-F238E27FC236}">
                <a16:creationId xmlns:a16="http://schemas.microsoft.com/office/drawing/2014/main" id="{1F079EAB-4379-49F6-B7C1-54D798F0A2E7}"/>
              </a:ext>
            </a:extLst>
          </p:cNvPr>
          <p:cNvSpPr>
            <a:spLocks xmlns:a="http://schemas.openxmlformats.org/drawingml/2006/main" noGrp="1"/>
          </p:cNvSpPr>
          <p:nvPr/>
        </p:nvSpPr>
        <p:spPr>
          <a:xfrm xmlns:a="http://schemas.openxmlformats.org/drawingml/2006/main">
            <a:off x="4191000" y="1143002"/>
            <a:ext cx="64770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Problem statement</a:t>
            </a:r>
            <a:endParaRPr sz="2400">
              <a:solidFill>
                <a:srgbClr val="FF0000"/>
              </a:solidFill>
              <a:latin typeface="Trebuchet MS"/>
              <a:ea typeface="Trebuchet MS"/>
              <a:cs typeface="Trebuchet MS"/>
            </a:endParaRPr>
          </a:p>
        </p:txBody>
      </p:sp>
      <p:sp>
        <p:nvSpPr>
          <p:cNvPr id="3" name="Slide Number Placeholder 2">
            <a:extLst xmlns:a="http://schemas.openxmlformats.org/drawingml/2006/main">
              <a:ext uri="{FF2B5EF4-FFF2-40B4-BE49-F238E27FC236}">
                <a16:creationId xmlns:a16="http://schemas.microsoft.com/office/drawing/2014/main" id="{9ED91A35-E128-468C-9CCF-82C4A251AA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2</a:t>
            </a:fld>
            <a:endParaRPr/>
          </a:p>
        </p:txBody>
      </p:sp>
      <p:pic>
        <p:nvPicPr>
          <p:cNvPr id="7" name="Picture 12">
            <a:extLst xmlns:a="http://schemas.openxmlformats.org/drawingml/2006/main">
              <a:ext uri="{FF2B5EF4-FFF2-40B4-BE49-F238E27FC236}">
                <a16:creationId xmlns:a16="http://schemas.microsoft.com/office/drawing/2014/main" id="{67C48CB6-2EEE-45CF-B2A7-29FE0488423E}"/>
              </a:ext>
            </a:extLst>
          </p:cNvPr>
          <p:cNvPicPr>
            <a:picLocks xmlns:a="http://schemas.openxmlformats.org/drawingml/2006/main" noChangeAspect="1"/>
          </p:cNvPicPr>
          <p:nvPr/>
        </p:nvPicPr>
        <p:blipFill>
          <a:blip xmlns:r="http://schemas.openxmlformats.org/officeDocument/2006/relationships" xmlns:a="http://schemas.openxmlformats.org/drawingml/2006/main" r:embed="Rc0a814a45d2d435e"/>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8" name="Footer Placeholder 2">
            <a:extLst xmlns:a="http://schemas.openxmlformats.org/drawingml/2006/main">
              <a:ext uri="{FF2B5EF4-FFF2-40B4-BE49-F238E27FC236}">
                <a16:creationId xmlns:a16="http://schemas.microsoft.com/office/drawing/2014/main" id="{5D236281-0FE9-701A-A6EA-A6DB0E75CA3F}"/>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spTree>
    <p:extLst>
      <p:ext uri="{BB962C8B-B14F-4D97-AF65-F5344CB8AC3E}">
        <p14:creationId xmlns:p14="http://schemas.microsoft.com/office/powerpoint/2010/main" val="27590358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1D4D5D27-759D-49FF-B8AD-FA9515581BAD}"/>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10" name="Content Placeholder 2">
            <a:extLst xmlns:a="http://schemas.openxmlformats.org/drawingml/2006/main">
              <a:ext uri="{FF2B5EF4-FFF2-40B4-BE49-F238E27FC236}">
                <a16:creationId xmlns:a16="http://schemas.microsoft.com/office/drawing/2014/main" id="{1B5CF5B8-E09F-4AF9-88DA-2BA319921D82}"/>
              </a:ext>
            </a:extLst>
          </p:cNvPr>
          <p:cNvSpPr>
            <a:spLocks xmlns:a="http://schemas.openxmlformats.org/drawingml/2006/main" noGrp="1"/>
          </p:cNvSpPr>
          <p:nvPr/>
        </p:nvSpPr>
        <p:spPr>
          <a:xfrm xmlns:a="http://schemas.openxmlformats.org/drawingml/2006/main">
            <a:off x="1143000" y="2095500"/>
            <a:ext cx="9906000" cy="3619500"/>
          </a:xfrm>
          <a:prstGeom xmlns:a="http://schemas.openxmlformats.org/drawingml/2006/main" prst="rect">
            <a:avLst/>
          </a:prstGeom>
        </p:spPr>
        <p:txBody>
          <a:bodyPr xmlns:a="http://schemas.openxmlformats.org/drawingml/2006/main"/>
          <a:lstStyle xmlns:a="http://schemas.openxmlformats.org/drawingml/2006/main">
            <a:defPPr algn="l">
              <a:defRPr sz="2325" b="0">
                <a:solidFill>
                  <a:srgbClr val="0033CC"/>
                </a:solidFill>
              </a:defRPr>
            </a:defPPr>
            <a:lvl1pPr algn="l">
              <a:defRPr sz="2325" b="0">
                <a:solidFill>
                  <a:srgbClr val="0033CC"/>
                </a:solidFill>
              </a:defRPr>
            </a:lvl1pPr>
            <a:lvl2pPr algn="l">
              <a:defRPr sz="2325" b="0">
                <a:solidFill>
                  <a:srgbClr val="0033CC"/>
                </a:solidFill>
              </a:defRPr>
            </a:lvl2pPr>
            <a:lvl3pPr algn="l">
              <a:defRPr sz="2325" b="0">
                <a:solidFill>
                  <a:srgbClr val="0033CC"/>
                </a:solidFill>
              </a:defRPr>
            </a:lvl3pPr>
            <a:lvl4pPr algn="l">
              <a:defRPr sz="2325" b="0">
                <a:solidFill>
                  <a:srgbClr val="0033CC"/>
                </a:solidFill>
              </a:defRPr>
            </a:lvl4pPr>
            <a:lvl5pPr algn="l">
              <a:defRPr sz="2325" b="0">
                <a:solidFill>
                  <a:srgbClr val="0033CC"/>
                </a:solidFill>
              </a:defRPr>
            </a:lvl5pPr>
            <a:lvl6pPr algn="l">
              <a:defRPr sz="2325" b="0">
                <a:solidFill>
                  <a:srgbClr val="0033CC"/>
                </a:solidFill>
              </a:defRPr>
            </a:lvl6pPr>
            <a:lvl7pPr algn="l">
              <a:defRPr sz="2325" b="0">
                <a:solidFill>
                  <a:srgbClr val="0033CC"/>
                </a:solidFill>
              </a:defRPr>
            </a:lvl7pPr>
            <a:lvl8pPr algn="l">
              <a:defRPr sz="2325" b="0">
                <a:solidFill>
                  <a:srgbClr val="0033CC"/>
                </a:solidFill>
              </a:defRPr>
            </a:lvl8pPr>
            <a:lvl9pPr algn="l">
              <a:defRPr sz="2325" b="0">
                <a:solidFill>
                  <a:srgbClr val="0033CC"/>
                </a:solidFill>
              </a:defRPr>
            </a:lvl9pPr>
          </a:lstStyle>
          <a:p xmlns:a="http://schemas.openxmlformats.org/drawingml/2006/main">
            <a:pPr marL="685791" indent="-342900" algn="l">
              <a:spcBef>
                <a:spcPts val="0"/>
              </a:spcBef>
              <a:spcAft>
                <a:spcPts val="0"/>
              </a:spcAft>
              <a:buFont typeface="Arial"/>
              <a:buChar char="•"/>
              <a:defRPr sz="2325" b="0">
                <a:solidFill>
                  <a:srgbClr val="0033CC"/>
                </a:solidFill>
              </a:defRPr>
            </a:pPr>
            <a:r>
              <a:rPr sz="2325" b="0">
                <a:solidFill>
                  <a:srgbClr val="0033CC"/>
                </a:solidFill>
                <a:latin typeface="Trebuchet MS"/>
                <a:ea typeface="Trebuchet MS"/>
                <a:cs typeface="Trebuchet MS"/>
              </a:rPr>
              <a:t>Transformer: attention combines information from earlier tokens.</a:t>
            </a:r>
            <a:endParaRPr sz="2400">
              <a:solidFill>
                <a:srgbClr val="0066FF"/>
              </a:solidFill>
              <a:latin typeface="Trebuchet MS"/>
              <a:ea typeface="Trebuchet MS"/>
              <a:cs typeface="Trebuchet MS"/>
            </a:endParaRPr>
          </a:p>
          <a:p xmlns:a="http://schemas.openxmlformats.org/drawingml/2006/main">
            <a:pPr marL="342891" algn="just">
              <a:spcBef>
                <a:spcPts val="0"/>
              </a:spcBef>
              <a:spcAft>
                <a:spcPts val="0"/>
              </a:spcAft>
              <a:buNone/>
            </a:pPr>
            <a:r>
              <a:rPr sz="2400">
                <a:solidFill>
                  <a:srgbClr val="0033CC"/>
                </a:solidFill>
                <a:latin typeface="Trebuchet MS"/>
                <a:ea typeface="Trebuchet MS"/>
                <a:cs typeface="Trebuchet MS"/>
              </a:rPr>
              <a:t/>
            </a:r>
            <a:endParaRPr sz="2400">
              <a:solidFill>
                <a:srgbClr val="0033CC"/>
              </a:solidFill>
              <a:latin typeface="Trebuchet MS"/>
              <a:ea typeface="Trebuchet MS"/>
              <a:cs typeface="Trebuchet MS"/>
            </a:endParaRPr>
          </a:p>
          <a:p xmlns:a="http://schemas.openxmlformats.org/drawingml/2006/main">
            <a:pPr marL="342891" algn="l">
              <a:spcBef>
                <a:spcPts val="0"/>
              </a:spcBef>
              <a:spcAft>
                <a:spcPts val="0"/>
              </a:spcAft>
              <a:buNone/>
              <a:defRPr sz="2325" b="0">
                <a:solidFill>
                  <a:srgbClr val="0033CC"/>
                </a:solidFill>
              </a:defRPr>
            </a:pPr>
            <a:r>
              <a:rPr sz="2325" b="0">
                <a:solidFill>
                  <a:srgbClr val="0033CC"/>
                </a:solidFill>
                <a:latin typeface="Trebuchet MS"/>
                <a:ea typeface="Trebuchet MS"/>
                <a:cs typeface="Trebuchet MS"/>
              </a:rPr>
              <a:t>Mamba-style: a running state changes with each input token.</a:t>
            </a:r>
            <a:endParaRPr sz="2400">
              <a:solidFill>
                <a:srgbClr val="0033CC"/>
              </a:solidFill>
              <a:latin typeface="Trebuchet MS"/>
              <a:ea typeface="Trebuchet MS"/>
              <a:cs typeface="Trebuchet MS"/>
            </a:endParaRPr>
          </a:p>
          <a:p xmlns:a="http://schemas.openxmlformats.org/drawingml/2006/main">
            <a:pPr marL="342891" algn="just">
              <a:spcBef>
                <a:spcPts val="0"/>
              </a:spcBef>
              <a:spcAft>
                <a:spcPts val="0"/>
              </a:spcAft>
              <a:buNone/>
            </a:pPr>
            <a:r>
              <a:rPr sz="2400">
                <a:solidFill>
                  <a:srgbClr val="0033CC"/>
                </a:solidFill>
                <a:latin typeface="Trebuchet MS"/>
                <a:ea typeface="Trebuchet MS"/>
                <a:cs typeface="Trebuchet MS"/>
              </a:rPr>
              <a:t/>
            </a:r>
            <a:endParaRPr sz="2400">
              <a:solidFill>
                <a:srgbClr val="0033CC"/>
              </a:solidFill>
              <a:latin typeface="Trebuchet MS"/>
              <a:ea typeface="Trebuchet MS"/>
              <a:cs typeface="Trebuchet MS"/>
            </a:endParaRPr>
          </a:p>
          <a:p xmlns:a="http://schemas.openxmlformats.org/drawingml/2006/main">
            <a:pPr marL="342891" algn="l">
              <a:spcBef>
                <a:spcPts val="0"/>
              </a:spcBef>
              <a:spcAft>
                <a:spcPts val="0"/>
              </a:spcAft>
              <a:buNone/>
              <a:defRPr sz="2325" b="0">
                <a:solidFill>
                  <a:srgbClr val="0033CC"/>
                </a:solidFill>
              </a:defRPr>
            </a:pPr>
            <a:r>
              <a:rPr sz="2325" b="0">
                <a:solidFill>
                  <a:srgbClr val="0033CC"/>
                </a:solidFill>
                <a:latin typeface="Trebuchet MS"/>
                <a:ea typeface="Trebuchet MS"/>
                <a:cs typeface="Trebuchet MS"/>
              </a:rPr>
              <a:t>Our contribution is a controlled small-scale comparison.</a:t>
            </a:r>
            <a:endParaRPr sz="2400">
              <a:solidFill>
                <a:srgbClr val="0033CC"/>
              </a:solidFill>
              <a:latin typeface="Trebuchet MS"/>
              <a:ea typeface="Trebuchet MS"/>
              <a:cs typeface="Trebuchet MS"/>
            </a:endParaRPr>
          </a:p>
          <a:p xmlns:a="http://schemas.openxmlformats.org/drawingml/2006/main">
            <a:pPr marL="342891" algn="l">
              <a:spcBef>
                <a:spcPts val="0"/>
              </a:spcBef>
              <a:spcAft>
                <a:spcPts val="0"/>
              </a:spcAft>
              <a:buNone/>
              <a:defRPr sz="2325" b="0">
                <a:solidFill>
                  <a:srgbClr val="0033CC"/>
                </a:solidFill>
              </a:defRPr>
            </a:pPr>
            <a:r>
              <a:rPr sz="2325" b="0">
                <a:solidFill>
                  <a:srgbClr val="0033CC"/>
                </a:solidFill>
                <a:latin typeface="Trebuchet MS"/>
                <a:ea typeface="Trebuchet MS"/>
                <a:cs typeface="Trebuchet MS"/>
              </a:rPr>
              <a:t>Review 1 establishes the Transformer pipeline.</a:t>
            </a:r>
            <a:endParaRPr sz="2400">
              <a:solidFill>
                <a:srgbClr val="0033CC"/>
              </a:solidFill>
              <a:latin typeface="Trebuchet MS"/>
              <a:ea typeface="Trebuchet MS"/>
              <a:cs typeface="Trebuchet MS"/>
            </a:endParaRPr>
          </a:p>
        </p:txBody>
      </p:sp>
      <p:sp>
        <p:nvSpPr>
          <p:cNvPr id="14" name="Text Box 34">
            <a:extLst xmlns:a="http://schemas.openxmlformats.org/drawingml/2006/main">
              <a:ext uri="{FF2B5EF4-FFF2-40B4-BE49-F238E27FC236}">
                <a16:creationId xmlns:a16="http://schemas.microsoft.com/office/drawing/2014/main" id="{2CD97D22-2A05-4984-A5A6-DE9C33ACCE22}"/>
              </a:ext>
            </a:extLst>
          </p:cNvPr>
          <p:cNvSpPr>
            <a:spLocks xmlns:a="http://schemas.openxmlformats.org/drawingml/2006/main" noGrp="1"/>
          </p:cNvSpPr>
          <p:nvPr/>
        </p:nvSpPr>
        <p:spPr>
          <a:xfrm xmlns:a="http://schemas.openxmlformats.org/drawingml/2006/main">
            <a:off x="4191000" y="1143002"/>
            <a:ext cx="64770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Why this comparison matters</a:t>
            </a:r>
            <a:endParaRPr sz="2400">
              <a:solidFill>
                <a:srgbClr val="FF0000"/>
              </a:solidFill>
              <a:latin typeface="Trebuchet MS"/>
              <a:ea typeface="Trebuchet MS"/>
              <a:cs typeface="Trebuchet MS"/>
            </a:endParaRPr>
          </a:p>
        </p:txBody>
      </p:sp>
      <p:sp>
        <p:nvSpPr>
          <p:cNvPr id="3" name="Slide Number Placeholder 2">
            <a:extLst xmlns:a="http://schemas.openxmlformats.org/drawingml/2006/main">
              <a:ext uri="{FF2B5EF4-FFF2-40B4-BE49-F238E27FC236}">
                <a16:creationId xmlns:a16="http://schemas.microsoft.com/office/drawing/2014/main" id="{9ED91A35-E128-468C-9CCF-82C4A251AA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3</a:t>
            </a:fld>
            <a:endParaRPr/>
          </a:p>
        </p:txBody>
      </p:sp>
      <p:pic>
        <p:nvPicPr>
          <p:cNvPr id="8" name="Picture 12">
            <a:extLst xmlns:a="http://schemas.openxmlformats.org/drawingml/2006/main">
              <a:ext uri="{FF2B5EF4-FFF2-40B4-BE49-F238E27FC236}">
                <a16:creationId xmlns:a16="http://schemas.microsoft.com/office/drawing/2014/main" id="{02657B10-6306-41E7-A16E-FD8CA63E4964}"/>
              </a:ext>
            </a:extLst>
          </p:cNvPr>
          <p:cNvPicPr>
            <a:picLocks xmlns:a="http://schemas.openxmlformats.org/drawingml/2006/main" noChangeAspect="1"/>
          </p:cNvPicPr>
          <p:nvPr/>
        </p:nvPicPr>
        <p:blipFill>
          <a:blip xmlns:r="http://schemas.openxmlformats.org/officeDocument/2006/relationships" xmlns:a="http://schemas.openxmlformats.org/drawingml/2006/main" r:embed="R48242cc0363543b9"/>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9" name="Footer Placeholder 2">
            <a:extLst xmlns:a="http://schemas.openxmlformats.org/drawingml/2006/main">
              <a:ext uri="{FF2B5EF4-FFF2-40B4-BE49-F238E27FC236}">
                <a16:creationId xmlns:a16="http://schemas.microsoft.com/office/drawing/2014/main" id="{1EFF0BC0-7BFE-1C7C-10BE-54A9EC0C871B}"/>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spTree>
    <p:extLst>
      <p:ext uri="{BB962C8B-B14F-4D97-AF65-F5344CB8AC3E}">
        <p14:creationId xmlns:p14="http://schemas.microsoft.com/office/powerpoint/2010/main" val="38110301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5DE5C66D-C02E-4FF1-892D-E3CC3106590B}"/>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10" name="Content Placeholder 2">
            <a:extLst xmlns:a="http://schemas.openxmlformats.org/drawingml/2006/main">
              <a:ext uri="{FF2B5EF4-FFF2-40B4-BE49-F238E27FC236}">
                <a16:creationId xmlns:a16="http://schemas.microsoft.com/office/drawing/2014/main" id="{BC7AF922-58DB-4651-B45F-99FBFECB59E7}"/>
              </a:ext>
            </a:extLst>
          </p:cNvPr>
          <p:cNvSpPr>
            <a:spLocks xmlns:a="http://schemas.openxmlformats.org/drawingml/2006/main" noGrp="1"/>
          </p:cNvSpPr>
          <p:nvPr/>
        </p:nvSpPr>
        <p:spPr>
          <a:xfrm xmlns:a="http://schemas.openxmlformats.org/drawingml/2006/main">
            <a:off x="1143000" y="2095500"/>
            <a:ext cx="9906000" cy="3238500"/>
          </a:xfrm>
          <a:prstGeom xmlns:a="http://schemas.openxmlformats.org/drawingml/2006/main" prst="rect">
            <a:avLst/>
          </a:prstGeom>
        </p:spPr>
        <p:txBody>
          <a:bodyPr xmlns:a="http://schemas.openxmlformats.org/drawingml/2006/main"/>
          <a:lstStyle xmlns:a="http://schemas.openxmlformats.org/drawingml/2006/main">
            <a:defPPr algn="l">
              <a:defRPr sz="2250" b="0">
                <a:solidFill>
                  <a:srgbClr val="0033CC"/>
                </a:solidFill>
              </a:defRPr>
            </a:defPPr>
            <a:lvl1pPr algn="l">
              <a:defRPr sz="2250" b="0">
                <a:solidFill>
                  <a:srgbClr val="0033CC"/>
                </a:solidFill>
              </a:defRPr>
            </a:lvl1pPr>
            <a:lvl2pPr algn="l">
              <a:defRPr sz="2250" b="0">
                <a:solidFill>
                  <a:srgbClr val="0033CC"/>
                </a:solidFill>
              </a:defRPr>
            </a:lvl2pPr>
            <a:lvl3pPr algn="l">
              <a:defRPr sz="2250" b="0">
                <a:solidFill>
                  <a:srgbClr val="0033CC"/>
                </a:solidFill>
              </a:defRPr>
            </a:lvl3pPr>
            <a:lvl4pPr algn="l">
              <a:defRPr sz="2250" b="0">
                <a:solidFill>
                  <a:srgbClr val="0033CC"/>
                </a:solidFill>
              </a:defRPr>
            </a:lvl4pPr>
            <a:lvl5pPr algn="l">
              <a:defRPr sz="2250" b="0">
                <a:solidFill>
                  <a:srgbClr val="0033CC"/>
                </a:solidFill>
              </a:defRPr>
            </a:lvl5pPr>
            <a:lvl6pPr algn="l">
              <a:defRPr sz="2250" b="0">
                <a:solidFill>
                  <a:srgbClr val="0033CC"/>
                </a:solidFill>
              </a:defRPr>
            </a:lvl6pPr>
            <a:lvl7pPr algn="l">
              <a:defRPr sz="2250" b="0">
                <a:solidFill>
                  <a:srgbClr val="0033CC"/>
                </a:solidFill>
              </a:defRPr>
            </a:lvl7pPr>
            <a:lvl8pPr algn="l">
              <a:defRPr sz="2250" b="0">
                <a:solidFill>
                  <a:srgbClr val="0033CC"/>
                </a:solidFill>
              </a:defRPr>
            </a:lvl8pPr>
            <a:lvl9pPr algn="l">
              <a:defRPr sz="2250" b="0">
                <a:solidFill>
                  <a:srgbClr val="0033CC"/>
                </a:solidFill>
              </a:defRPr>
            </a:lvl9pPr>
          </a:lstStyle>
          <a:p xmlns:a="http://schemas.openxmlformats.org/drawingml/2006/main">
            <a:pPr marL="685791" indent="-342900" algn="l">
              <a:spcBef>
                <a:spcPts val="0"/>
              </a:spcBef>
              <a:spcAft>
                <a:spcPts val="0"/>
              </a:spcAft>
              <a:buFont typeface="Arial"/>
              <a:buChar char="•"/>
              <a:defRPr sz="2250" b="0">
                <a:solidFill>
                  <a:srgbClr val="0033CC"/>
                </a:solidFill>
              </a:defRPr>
            </a:pPr>
            <a:r>
              <a:rPr sz="2250" b="0">
                <a:solidFill>
                  <a:srgbClr val="0033CC"/>
                </a:solidFill>
                <a:latin typeface="Trebuchet MS"/>
                <a:ea typeface="Trebuchet MS"/>
                <a:cs typeface="Trebuchet MS"/>
              </a:rPr>
              <a:t>FineWeb-Edu: 200 documents from sample-10BT.</a:t>
            </a:r>
            <a:endParaRPr sz="2400">
              <a:solidFill>
                <a:srgbClr val="0033CC"/>
              </a:solidFill>
              <a:latin typeface="Trebuchet MS"/>
              <a:ea typeface="Trebuchet MS"/>
              <a:cs typeface="Trebuchet MS"/>
            </a:endParaRPr>
          </a:p>
          <a:p xmlns:a="http://schemas.openxmlformats.org/drawingml/2006/main">
            <a:pPr marL="685791" indent="-342900" algn="l">
              <a:spcBef>
                <a:spcPct val="20000"/>
              </a:spcBef>
              <a:buFont typeface="Arial"/>
              <a:buChar char="•"/>
              <a:defRPr sz="2250" b="0">
                <a:solidFill>
                  <a:srgbClr val="0033CC"/>
                </a:solidFill>
              </a:defRPr>
            </a:pPr>
            <a:r>
              <a:rPr sz="2250" b="0">
                <a:solidFill>
                  <a:srgbClr val="0033CC"/>
                </a:solidFill>
              </a:rPr>
              <a:t>170 training documents; 30 held out for validation.</a:t>
            </a:r>
            <a:endParaRPr sz="2400">
              <a:solidFill>
                <a:srgbClr val="0000FF"/>
              </a:solidFill>
              <a:latin typeface="Trebuchet MS"/>
              <a:ea typeface="Trebuchet MS"/>
              <a:cs typeface="Trebuchet MS"/>
            </a:endParaRPr>
          </a:p>
          <a:p xmlns:a="http://schemas.openxmlformats.org/drawingml/2006/main">
            <a:pPr marL="685791" indent="-342900" algn="l">
              <a:spcBef>
                <a:spcPct val="20000"/>
              </a:spcBef>
              <a:buFont typeface="Arial"/>
              <a:buChar char="•"/>
              <a:defRPr sz="2250" b="0">
                <a:solidFill>
                  <a:srgbClr val="0033CC"/>
                </a:solidFill>
              </a:defRPr>
            </a:pPr>
            <a:r>
              <a:rPr sz="2250" b="0">
                <a:solidFill>
                  <a:srgbClr val="0033CC"/>
                </a:solidFill>
              </a:rPr>
              <a:t>Byte-level BPE: 1,024 tokens, fitted on training text.</a:t>
            </a:r>
            <a:endParaRPr sz="2400">
              <a:solidFill>
                <a:srgbClr val="0000FF"/>
              </a:solidFill>
              <a:latin typeface="Trebuchet MS"/>
              <a:ea typeface="Trebuchet MS"/>
              <a:cs typeface="Trebuchet MS"/>
            </a:endParaRPr>
          </a:p>
          <a:p xmlns:a="http://schemas.openxmlformats.org/drawingml/2006/main">
            <a:pPr marL="685791" indent="-342900" algn="l">
              <a:spcBef>
                <a:spcPct val="20000"/>
              </a:spcBef>
              <a:buFont typeface="Arial"/>
              <a:buChar char="•"/>
              <a:defRPr sz="2250" b="0">
                <a:solidFill>
                  <a:srgbClr val="0033CC"/>
                </a:solidFill>
              </a:defRPr>
            </a:pPr>
            <a:r>
              <a:rPr sz="2250" b="0">
                <a:solidFill>
                  <a:srgbClr val="0033CC"/>
                </a:solidFill>
              </a:rPr>
              <a:t>128-token windows remain inside each document.</a:t>
            </a:r>
            <a:endParaRPr sz="2400">
              <a:solidFill>
                <a:srgbClr val="0000FF"/>
              </a:solidFill>
              <a:latin typeface="Trebuchet MS"/>
              <a:ea typeface="Trebuchet MS"/>
              <a:cs typeface="Trebuchet MS"/>
            </a:endParaRPr>
          </a:p>
          <a:p xmlns:a="http://schemas.openxmlformats.org/drawingml/2006/main">
            <a:pPr marL="685791" indent="-342900" algn="l">
              <a:spcBef>
                <a:spcPct val="20000"/>
              </a:spcBef>
              <a:buFont typeface="Arial"/>
              <a:buChar char="•"/>
              <a:defRPr sz="2250" b="0">
                <a:solidFill>
                  <a:srgbClr val="0033CC"/>
                </a:solidFill>
              </a:defRPr>
            </a:pPr>
            <a:r>
              <a:rPr sz="2250" b="0">
                <a:solidFill>
                  <a:srgbClr val="0033CC"/>
                </a:solidFill>
              </a:rPr>
              <a:t>Tiny ordered sample; exact duplicates removed.</a:t>
            </a:r>
            <a:endParaRPr sz="2400">
              <a:solidFill>
                <a:srgbClr val="0000FF"/>
              </a:solidFill>
              <a:latin typeface="Trebuchet MS"/>
              <a:ea typeface="Trebuchet MS"/>
              <a:cs typeface="Trebuchet MS"/>
            </a:endParaRPr>
          </a:p>
        </p:txBody>
      </p:sp>
      <p:sp>
        <p:nvSpPr>
          <p:cNvPr id="14" name="Text Box 34">
            <a:extLst xmlns:a="http://schemas.openxmlformats.org/drawingml/2006/main">
              <a:ext uri="{FF2B5EF4-FFF2-40B4-BE49-F238E27FC236}">
                <a16:creationId xmlns:a16="http://schemas.microsoft.com/office/drawing/2014/main" id="{8B7930B0-50D1-44F6-8C30-AAF6CEACFE07}"/>
              </a:ext>
            </a:extLst>
          </p:cNvPr>
          <p:cNvSpPr>
            <a:spLocks xmlns:a="http://schemas.openxmlformats.org/drawingml/2006/main" noGrp="1"/>
          </p:cNvSpPr>
          <p:nvPr/>
        </p:nvSpPr>
        <p:spPr>
          <a:xfrm xmlns:a="http://schemas.openxmlformats.org/drawingml/2006/main">
            <a:off x="2895600" y="990600"/>
            <a:ext cx="78486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Dataset and pilot setup</a:t>
            </a:r>
            <a:endParaRPr sz="2400">
              <a:solidFill>
                <a:srgbClr val="FF0000"/>
              </a:solidFill>
              <a:latin typeface="Trebuchet MS"/>
              <a:ea typeface="Trebuchet MS"/>
              <a:cs typeface="Trebuchet MS"/>
            </a:endParaRPr>
          </a:p>
        </p:txBody>
      </p:sp>
      <p:sp>
        <p:nvSpPr>
          <p:cNvPr id="3" name="Slide Number Placeholder 2">
            <a:extLst xmlns:a="http://schemas.openxmlformats.org/drawingml/2006/main">
              <a:ext uri="{FF2B5EF4-FFF2-40B4-BE49-F238E27FC236}">
                <a16:creationId xmlns:a16="http://schemas.microsoft.com/office/drawing/2014/main" id="{62E0EBCA-D698-475D-8BBB-299E298C01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4</a:t>
            </a:fld>
            <a:endParaRPr/>
          </a:p>
        </p:txBody>
      </p:sp>
      <p:pic>
        <p:nvPicPr>
          <p:cNvPr id="7" name="Picture 12">
            <a:extLst xmlns:a="http://schemas.openxmlformats.org/drawingml/2006/main">
              <a:ext uri="{FF2B5EF4-FFF2-40B4-BE49-F238E27FC236}">
                <a16:creationId xmlns:a16="http://schemas.microsoft.com/office/drawing/2014/main" id="{E14CFCBB-C33A-411E-BF5C-406F71370324}"/>
              </a:ext>
            </a:extLst>
          </p:cNvPr>
          <p:cNvPicPr>
            <a:picLocks xmlns:a="http://schemas.openxmlformats.org/drawingml/2006/main" noChangeAspect="1"/>
          </p:cNvPicPr>
          <p:nvPr/>
        </p:nvPicPr>
        <p:blipFill>
          <a:blip xmlns:r="http://schemas.openxmlformats.org/officeDocument/2006/relationships" xmlns:a="http://schemas.openxmlformats.org/drawingml/2006/main" r:embed="Rabcab98a960b4197"/>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8" name="Footer Placeholder 2">
            <a:extLst xmlns:a="http://schemas.openxmlformats.org/drawingml/2006/main">
              <a:ext uri="{FF2B5EF4-FFF2-40B4-BE49-F238E27FC236}">
                <a16:creationId xmlns:a16="http://schemas.microsoft.com/office/drawing/2014/main" id="{850AA5C2-4AE8-2A61-784A-65DFB64D9FB7}"/>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sp>
        <p:nvSpPr>
          <p:cNvPr id="15" name="">
            <a:extLst xmlns:a="http://schemas.openxmlformats.org/drawingml/2006/main">
              <a:ext uri="{FF2B5EF4-FFF2-40B4-BE49-F238E27FC236}">
                <a16:creationId xmlns:a16="http://schemas.microsoft.com/office/drawing/2014/main" id="{ADA654C0-BA23-47DD-9DEA-D11D50EACCFD}"/>
              </a:ext>
            </a:extLst>
          </p:cNvPr>
          <p:cNvSpPr>
            <a:spLocks xmlns:a="http://schemas.openxmlformats.org/drawingml/2006/main" noGrp="1"/>
          </p:cNvSpPr>
          <p:nvPr/>
        </p:nvSpPr>
        <p:spPr>
          <a:xfrm xmlns:a="http://schemas.openxmlformats.org/drawingml/2006/main">
            <a:off x="1143000" y="55245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33CC"/>
                </a:solidFill>
              </a:defRPr>
            </a:defPPr>
            <a:lvl1pPr algn="l">
              <a:defRPr sz="1875" b="0">
                <a:solidFill>
                  <a:srgbClr val="0033CC"/>
                </a:solidFill>
              </a:defRPr>
            </a:lvl1pPr>
            <a:lvl2pPr algn="l">
              <a:defRPr sz="1875" b="0">
                <a:solidFill>
                  <a:srgbClr val="0033CC"/>
                </a:solidFill>
              </a:defRPr>
            </a:lvl2pPr>
            <a:lvl3pPr algn="l">
              <a:defRPr sz="1875" b="0">
                <a:solidFill>
                  <a:srgbClr val="0033CC"/>
                </a:solidFill>
              </a:defRPr>
            </a:lvl3pPr>
            <a:lvl4pPr algn="l">
              <a:defRPr sz="1875" b="0">
                <a:solidFill>
                  <a:srgbClr val="0033CC"/>
                </a:solidFill>
              </a:defRPr>
            </a:lvl4pPr>
            <a:lvl5pPr algn="l">
              <a:defRPr sz="1875" b="0">
                <a:solidFill>
                  <a:srgbClr val="0033CC"/>
                </a:solidFill>
              </a:defRPr>
            </a:lvl5pPr>
            <a:lvl6pPr algn="l">
              <a:defRPr sz="1875" b="0">
                <a:solidFill>
                  <a:srgbClr val="0033CC"/>
                </a:solidFill>
              </a:defRPr>
            </a:lvl6pPr>
            <a:lvl7pPr algn="l">
              <a:defRPr sz="1875" b="0">
                <a:solidFill>
                  <a:srgbClr val="0033CC"/>
                </a:solidFill>
              </a:defRPr>
            </a:lvl7pPr>
            <a:lvl8pPr algn="l">
              <a:defRPr sz="1875" b="0">
                <a:solidFill>
                  <a:srgbClr val="0033CC"/>
                </a:solidFill>
              </a:defRPr>
            </a:lvl8pPr>
            <a:lvl9pPr algn="l">
              <a:defRPr sz="1875" b="0">
                <a:solidFill>
                  <a:srgbClr val="0033CC"/>
                </a:solidFill>
              </a:defRPr>
            </a:lvl9pPr>
          </a:lstStyle>
          <a:p xmlns:a="http://schemas.openxmlformats.org/drawingml/2006/main">
            <a:pPr algn="l">
              <a:defRPr sz="1875" b="0">
                <a:solidFill>
                  <a:srgbClr val="0033CC"/>
                </a:solidFill>
              </a:defRPr>
            </a:pPr>
            <a:r>
              <a:rPr sz="1875" b="0">
                <a:solidFill>
                  <a:srgbClr val="0033CC"/>
                </a:solidFill>
              </a:rPr>
              <a:t>1,812 training windows • 494 validation windows</a:t>
            </a:r>
          </a:p>
        </p:txBody>
      </p:sp>
    </p:spTree>
    <p:extLst>
      <p:ext uri="{BB962C8B-B14F-4D97-AF65-F5344CB8AC3E}">
        <p14:creationId xmlns:p14="http://schemas.microsoft.com/office/powerpoint/2010/main" val="42053692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9EBFEC09-16D3-4418-B126-48D57ECE3D58}"/>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8C6A3280-17ED-4963-8C5C-5395C3B09A8D}"/>
              </a:ext>
            </a:extLst>
          </p:cNvPr>
          <p:cNvSpPr>
            <a:spLocks xmlns:a="http://schemas.openxmlformats.org/drawingml/2006/main" noGrp="1"/>
          </p:cNvSpPr>
          <p:nvPr/>
        </p:nvSpPr>
        <p:spPr>
          <a:xfrm xmlns:a="http://schemas.openxmlformats.org/drawingml/2006/main">
            <a:off x="2895600" y="990600"/>
            <a:ext cx="78486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Overall approach</a:t>
            </a:r>
            <a:endParaRPr sz="2400">
              <a:solidFill>
                <a:srgbClr val="FF0000"/>
              </a:solidFill>
              <a:latin typeface="Trebuchet MS"/>
              <a:ea typeface="Trebuchet MS"/>
              <a:cs typeface="Trebuchet MS"/>
            </a:endParaRPr>
          </a:p>
        </p:txBody>
      </p:sp>
      <p:sp>
        <p:nvSpPr>
          <p:cNvPr id="3" name="Slide Number Placeholder 2">
            <a:extLst xmlns:a="http://schemas.openxmlformats.org/drawingml/2006/main">
              <a:ext uri="{FF2B5EF4-FFF2-40B4-BE49-F238E27FC236}">
                <a16:creationId xmlns:a16="http://schemas.microsoft.com/office/drawing/2014/main" id="{0B754D29-FED2-4C58-AFD4-20A997C884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5</a:t>
            </a:fld>
            <a:endParaRPr/>
          </a:p>
        </p:txBody>
      </p:sp>
      <p:pic>
        <p:nvPicPr>
          <p:cNvPr id="7" name="Picture 12">
            <a:extLst xmlns:a="http://schemas.openxmlformats.org/drawingml/2006/main">
              <a:ext uri="{FF2B5EF4-FFF2-40B4-BE49-F238E27FC236}">
                <a16:creationId xmlns:a16="http://schemas.microsoft.com/office/drawing/2014/main" id="{F9CB3943-E643-49AE-964C-8FAA9AC700F0}"/>
              </a:ext>
            </a:extLst>
          </p:cNvPr>
          <p:cNvPicPr>
            <a:picLocks xmlns:a="http://schemas.openxmlformats.org/drawingml/2006/main" noChangeAspect="1"/>
          </p:cNvPicPr>
          <p:nvPr/>
        </p:nvPicPr>
        <p:blipFill>
          <a:blip xmlns:r="http://schemas.openxmlformats.org/officeDocument/2006/relationships" xmlns:a="http://schemas.openxmlformats.org/drawingml/2006/main" r:embed="R84e8e1318c0e4181"/>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9" name="Footer Placeholder 2">
            <a:extLst xmlns:a="http://schemas.openxmlformats.org/drawingml/2006/main">
              <a:ext uri="{FF2B5EF4-FFF2-40B4-BE49-F238E27FC236}">
                <a16:creationId xmlns:a16="http://schemas.microsoft.com/office/drawing/2014/main" id="{06983141-769D-9659-600E-12BC6C8F6A1F}"/>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sp>
        <p:nvSpPr>
          <p:cNvPr id="15" name="">
            <a:extLst xmlns:a="http://schemas.openxmlformats.org/drawingml/2006/main">
              <a:ext uri="{FF2B5EF4-FFF2-40B4-BE49-F238E27FC236}">
                <a16:creationId xmlns:a16="http://schemas.microsoft.com/office/drawing/2014/main" id="{5AFAFF9B-7867-43DC-856B-25C70F709251}"/>
              </a:ext>
            </a:extLst>
          </p:cNvPr>
          <p:cNvSpPr>
            <a:spLocks xmlns:a="http://schemas.openxmlformats.org/drawingml/2006/main" noGrp="1"/>
          </p:cNvSpPr>
          <p:nvPr/>
        </p:nvSpPr>
        <p:spPr>
          <a:xfrm xmlns:a="http://schemas.openxmlformats.org/drawingml/2006/main">
            <a:off x="952500" y="2333625"/>
            <a:ext cx="2476500" cy="742950"/>
          </a:xfrm>
          <a:prstGeom xmlns:a="http://schemas.openxmlformats.org/drawingml/2006/main" prst="rect">
            <a:avLst/>
          </a:prstGeom>
          <a:solidFill xmlns:a="http://schemas.openxmlformats.org/drawingml/2006/main">
            <a:srgbClr val="E8EBF4"/>
          </a:solidFill>
          <a:ln xmlns:a="http://schemas.openxmlformats.org/drawingml/2006/main" w="19050">
            <a:solidFill>
              <a:srgbClr val="4472C4"/>
            </a:solidFill>
          </a:ln>
        </p:spPr>
        <p:txBody>
          <a:bodyPr xmlns:a="http://schemas.openxmlformats.org/drawingml/2006/main" anchor="ctr"/>
          <a:lstStyle xmlns:a="http://schemas.openxmlformats.org/drawingml/2006/main">
            <a:defPPr algn="ctr">
              <a:defRPr sz="1875">
                <a:solidFill>
                  <a:srgbClr val="0033CC"/>
                </a:solidFill>
              </a:defRPr>
            </a:defPPr>
            <a:lvl1pPr algn="ctr">
              <a:defRPr sz="1875">
                <a:solidFill>
                  <a:srgbClr val="0033CC"/>
                </a:solidFill>
              </a:defRPr>
            </a:lvl1pPr>
            <a:lvl2pPr algn="ctr">
              <a:defRPr sz="1875">
                <a:solidFill>
                  <a:srgbClr val="0033CC"/>
                </a:solidFill>
              </a:defRPr>
            </a:lvl2pPr>
            <a:lvl3pPr algn="ctr">
              <a:defRPr sz="1875">
                <a:solidFill>
                  <a:srgbClr val="0033CC"/>
                </a:solidFill>
              </a:defRPr>
            </a:lvl3pPr>
            <a:lvl4pPr algn="ctr">
              <a:defRPr sz="1875">
                <a:solidFill>
                  <a:srgbClr val="0033CC"/>
                </a:solidFill>
              </a:defRPr>
            </a:lvl4pPr>
            <a:lvl5pPr algn="ctr">
              <a:defRPr sz="1875">
                <a:solidFill>
                  <a:srgbClr val="0033CC"/>
                </a:solidFill>
              </a:defRPr>
            </a:lvl5pPr>
            <a:lvl6pPr algn="ctr">
              <a:defRPr sz="1875">
                <a:solidFill>
                  <a:srgbClr val="0033CC"/>
                </a:solidFill>
              </a:defRPr>
            </a:lvl6pPr>
            <a:lvl7pPr algn="ctr">
              <a:defRPr sz="1875">
                <a:solidFill>
                  <a:srgbClr val="0033CC"/>
                </a:solidFill>
              </a:defRPr>
            </a:lvl7pPr>
            <a:lvl8pPr algn="ctr">
              <a:defRPr sz="1875">
                <a:solidFill>
                  <a:srgbClr val="0033CC"/>
                </a:solidFill>
              </a:defRPr>
            </a:lvl8pPr>
            <a:lvl9pPr algn="ctr">
              <a:defRPr sz="1875">
                <a:solidFill>
                  <a:srgbClr val="0033CC"/>
                </a:solidFill>
              </a:defRPr>
            </a:lvl9pPr>
          </a:lstStyle>
          <a:p xmlns:a="http://schemas.openxmlformats.org/drawingml/2006/main">
            <a:pPr algn="ctr">
              <a:defRPr sz="1875">
                <a:solidFill>
                  <a:srgbClr val="0033CC"/>
                </a:solidFill>
              </a:defRPr>
            </a:pPr>
            <a:r>
              <a:rPr sz="1875">
                <a:solidFill>
                  <a:srgbClr val="0033CC"/>
                </a:solidFill>
              </a:rPr>
              <a:t>FineWeb-Edu</a:t>
            </a:r>
          </a:p>
          <a:p xmlns:a="http://schemas.openxmlformats.org/drawingml/2006/main">
            <a:pPr algn="ctr">
              <a:defRPr sz="1875">
                <a:solidFill>
                  <a:srgbClr val="0033CC"/>
                </a:solidFill>
              </a:defRPr>
            </a:pPr>
            <a:r>
              <a:rPr sz="1875">
                <a:solidFill>
                  <a:srgbClr val="0033CC"/>
                </a:solidFill>
              </a:rPr>
              <a:t>Document split</a:t>
            </a:r>
          </a:p>
        </p:txBody>
      </p:sp>
      <p:sp>
        <p:nvSpPr>
          <p:cNvPr id="16" name="">
            <a:extLst xmlns:a="http://schemas.openxmlformats.org/drawingml/2006/main">
              <a:ext uri="{FF2B5EF4-FFF2-40B4-BE49-F238E27FC236}">
                <a16:creationId xmlns:a16="http://schemas.microsoft.com/office/drawing/2014/main" id="{E8727925-3A6E-4C52-B497-76CEB8D1E0B1}"/>
              </a:ext>
            </a:extLst>
          </p:cNvPr>
          <p:cNvSpPr>
            <a:spLocks xmlns:a="http://schemas.openxmlformats.org/drawingml/2006/main" noGrp="1"/>
          </p:cNvSpPr>
          <p:nvPr/>
        </p:nvSpPr>
        <p:spPr>
          <a:xfrm xmlns:a="http://schemas.openxmlformats.org/drawingml/2006/main">
            <a:off x="3571875" y="2552700"/>
            <a:ext cx="476250" cy="285750"/>
          </a:xfrm>
          <a:prstGeom xmlns:a="http://schemas.openxmlformats.org/drawingml/2006/main" prst="rightArrow">
            <a:avLst/>
          </a:prstGeom>
          <a:solidFill xmlns:a="http://schemas.openxmlformats.org/drawingml/2006/main">
            <a:srgbClr val="4472C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A0B5D9-9F33-49F0-B570-584816014FB0}"/>
              </a:ext>
            </a:extLst>
          </p:cNvPr>
          <p:cNvSpPr>
            <a:spLocks xmlns:a="http://schemas.openxmlformats.org/drawingml/2006/main" noGrp="1"/>
          </p:cNvSpPr>
          <p:nvPr/>
        </p:nvSpPr>
        <p:spPr>
          <a:xfrm xmlns:a="http://schemas.openxmlformats.org/drawingml/2006/main">
            <a:off x="4238625" y="2333625"/>
            <a:ext cx="2476500" cy="742950"/>
          </a:xfrm>
          <a:prstGeom xmlns:a="http://schemas.openxmlformats.org/drawingml/2006/main" prst="rect">
            <a:avLst/>
          </a:prstGeom>
          <a:solidFill xmlns:a="http://schemas.openxmlformats.org/drawingml/2006/main">
            <a:srgbClr val="E8EBF4"/>
          </a:solidFill>
          <a:ln xmlns:a="http://schemas.openxmlformats.org/drawingml/2006/main" w="19050">
            <a:solidFill>
              <a:srgbClr val="4472C4"/>
            </a:solidFill>
          </a:ln>
        </p:spPr>
        <p:txBody>
          <a:bodyPr xmlns:a="http://schemas.openxmlformats.org/drawingml/2006/main" anchor="ctr"/>
          <a:lstStyle xmlns:a="http://schemas.openxmlformats.org/drawingml/2006/main">
            <a:defPPr algn="ctr">
              <a:defRPr sz="1875">
                <a:solidFill>
                  <a:srgbClr val="0033CC"/>
                </a:solidFill>
              </a:defRPr>
            </a:defPPr>
            <a:lvl1pPr algn="ctr">
              <a:defRPr sz="1875">
                <a:solidFill>
                  <a:srgbClr val="0033CC"/>
                </a:solidFill>
              </a:defRPr>
            </a:lvl1pPr>
            <a:lvl2pPr algn="ctr">
              <a:defRPr sz="1875">
                <a:solidFill>
                  <a:srgbClr val="0033CC"/>
                </a:solidFill>
              </a:defRPr>
            </a:lvl2pPr>
            <a:lvl3pPr algn="ctr">
              <a:defRPr sz="1875">
                <a:solidFill>
                  <a:srgbClr val="0033CC"/>
                </a:solidFill>
              </a:defRPr>
            </a:lvl3pPr>
            <a:lvl4pPr algn="ctr">
              <a:defRPr sz="1875">
                <a:solidFill>
                  <a:srgbClr val="0033CC"/>
                </a:solidFill>
              </a:defRPr>
            </a:lvl4pPr>
            <a:lvl5pPr algn="ctr">
              <a:defRPr sz="1875">
                <a:solidFill>
                  <a:srgbClr val="0033CC"/>
                </a:solidFill>
              </a:defRPr>
            </a:lvl5pPr>
            <a:lvl6pPr algn="ctr">
              <a:defRPr sz="1875">
                <a:solidFill>
                  <a:srgbClr val="0033CC"/>
                </a:solidFill>
              </a:defRPr>
            </a:lvl6pPr>
            <a:lvl7pPr algn="ctr">
              <a:defRPr sz="1875">
                <a:solidFill>
                  <a:srgbClr val="0033CC"/>
                </a:solidFill>
              </a:defRPr>
            </a:lvl7pPr>
            <a:lvl8pPr algn="ctr">
              <a:defRPr sz="1875">
                <a:solidFill>
                  <a:srgbClr val="0033CC"/>
                </a:solidFill>
              </a:defRPr>
            </a:lvl8pPr>
            <a:lvl9pPr algn="ctr">
              <a:defRPr sz="1875">
                <a:solidFill>
                  <a:srgbClr val="0033CC"/>
                </a:solidFill>
              </a:defRPr>
            </a:lvl9pPr>
          </a:lstStyle>
          <a:p xmlns:a="http://schemas.openxmlformats.org/drawingml/2006/main">
            <a:pPr algn="ctr">
              <a:defRPr sz="1875">
                <a:solidFill>
                  <a:srgbClr val="0033CC"/>
                </a:solidFill>
              </a:defRPr>
            </a:pPr>
            <a:r>
              <a:rPr sz="1875">
                <a:solidFill>
                  <a:srgbClr val="0033CC"/>
                </a:solidFill>
              </a:rPr>
              <a:t>Shared tokenizer</a:t>
            </a:r>
          </a:p>
          <a:p xmlns:a="http://schemas.openxmlformats.org/drawingml/2006/main">
            <a:pPr algn="ctr">
              <a:defRPr sz="1875">
                <a:solidFill>
                  <a:srgbClr val="0033CC"/>
                </a:solidFill>
              </a:defRPr>
            </a:pPr>
            <a:r>
              <a:rPr sz="1875">
                <a:solidFill>
                  <a:srgbClr val="0033CC"/>
                </a:solidFill>
              </a:rPr>
              <a:t>Input / target batches</a:t>
            </a:r>
          </a:p>
        </p:txBody>
      </p:sp>
      <p:sp>
        <p:nvSpPr>
          <p:cNvPr id="18" name="">
            <a:extLst xmlns:a="http://schemas.openxmlformats.org/drawingml/2006/main">
              <a:ext uri="{FF2B5EF4-FFF2-40B4-BE49-F238E27FC236}">
                <a16:creationId xmlns:a16="http://schemas.microsoft.com/office/drawing/2014/main" id="{B28A401F-1D11-40C3-9DFB-FF4FFADB913C}"/>
              </a:ext>
            </a:extLst>
          </p:cNvPr>
          <p:cNvSpPr>
            <a:spLocks xmlns:a="http://schemas.openxmlformats.org/drawingml/2006/main" noGrp="1"/>
          </p:cNvSpPr>
          <p:nvPr/>
        </p:nvSpPr>
        <p:spPr>
          <a:xfrm xmlns:a="http://schemas.openxmlformats.org/drawingml/2006/main">
            <a:off x="6858000" y="2552700"/>
            <a:ext cx="476250" cy="285750"/>
          </a:xfrm>
          <a:prstGeom xmlns:a="http://schemas.openxmlformats.org/drawingml/2006/main" prst="rightArrow">
            <a:avLst/>
          </a:prstGeom>
          <a:solidFill xmlns:a="http://schemas.openxmlformats.org/drawingml/2006/main">
            <a:srgbClr val="4472C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3293ED7-0841-4795-91C6-D187FC91BBBA}"/>
              </a:ext>
            </a:extLst>
          </p:cNvPr>
          <p:cNvSpPr>
            <a:spLocks xmlns:a="http://schemas.openxmlformats.org/drawingml/2006/main" noGrp="1"/>
          </p:cNvSpPr>
          <p:nvPr/>
        </p:nvSpPr>
        <p:spPr>
          <a:xfrm xmlns:a="http://schemas.openxmlformats.org/drawingml/2006/main">
            <a:off x="7524750" y="2333625"/>
            <a:ext cx="3238500" cy="742950"/>
          </a:xfrm>
          <a:prstGeom xmlns:a="http://schemas.openxmlformats.org/drawingml/2006/main" prst="rect">
            <a:avLst/>
          </a:prstGeom>
          <a:solidFill xmlns:a="http://schemas.openxmlformats.org/drawingml/2006/main">
            <a:srgbClr val="E8EBF4"/>
          </a:solidFill>
          <a:ln xmlns:a="http://schemas.openxmlformats.org/drawingml/2006/main" w="19050">
            <a:solidFill>
              <a:srgbClr val="4472C4"/>
            </a:solidFill>
          </a:ln>
        </p:spPr>
        <p:txBody>
          <a:bodyPr xmlns:a="http://schemas.openxmlformats.org/drawingml/2006/main" anchor="ctr"/>
          <a:lstStyle xmlns:a="http://schemas.openxmlformats.org/drawingml/2006/main">
            <a:defPPr algn="ctr">
              <a:defRPr sz="1875">
                <a:solidFill>
                  <a:srgbClr val="0033CC"/>
                </a:solidFill>
              </a:defRPr>
            </a:defPPr>
            <a:lvl1pPr algn="ctr">
              <a:defRPr sz="1875">
                <a:solidFill>
                  <a:srgbClr val="0033CC"/>
                </a:solidFill>
              </a:defRPr>
            </a:lvl1pPr>
            <a:lvl2pPr algn="ctr">
              <a:defRPr sz="1875">
                <a:solidFill>
                  <a:srgbClr val="0033CC"/>
                </a:solidFill>
              </a:defRPr>
            </a:lvl2pPr>
            <a:lvl3pPr algn="ctr">
              <a:defRPr sz="1875">
                <a:solidFill>
                  <a:srgbClr val="0033CC"/>
                </a:solidFill>
              </a:defRPr>
            </a:lvl3pPr>
            <a:lvl4pPr algn="ctr">
              <a:defRPr sz="1875">
                <a:solidFill>
                  <a:srgbClr val="0033CC"/>
                </a:solidFill>
              </a:defRPr>
            </a:lvl4pPr>
            <a:lvl5pPr algn="ctr">
              <a:defRPr sz="1875">
                <a:solidFill>
                  <a:srgbClr val="0033CC"/>
                </a:solidFill>
              </a:defRPr>
            </a:lvl5pPr>
            <a:lvl6pPr algn="ctr">
              <a:defRPr sz="1875">
                <a:solidFill>
                  <a:srgbClr val="0033CC"/>
                </a:solidFill>
              </a:defRPr>
            </a:lvl6pPr>
            <a:lvl7pPr algn="ctr">
              <a:defRPr sz="1875">
                <a:solidFill>
                  <a:srgbClr val="0033CC"/>
                </a:solidFill>
              </a:defRPr>
            </a:lvl7pPr>
            <a:lvl8pPr algn="ctr">
              <a:defRPr sz="1875">
                <a:solidFill>
                  <a:srgbClr val="0033CC"/>
                </a:solidFill>
              </a:defRPr>
            </a:lvl8pPr>
            <a:lvl9pPr algn="ctr">
              <a:defRPr sz="1875">
                <a:solidFill>
                  <a:srgbClr val="0033CC"/>
                </a:solidFill>
              </a:defRPr>
            </a:lvl9pPr>
          </a:lstStyle>
          <a:p xmlns:a="http://schemas.openxmlformats.org/drawingml/2006/main">
            <a:pPr algn="ctr">
              <a:defRPr sz="1875">
                <a:solidFill>
                  <a:srgbClr val="0033CC"/>
                </a:solidFill>
              </a:defRPr>
            </a:pPr>
            <a:r>
              <a:rPr sz="1875">
                <a:solidFill>
                  <a:srgbClr val="0033CC"/>
                </a:solidFill>
              </a:rPr>
              <a:t>Transformer</a:t>
            </a:r>
          </a:p>
          <a:p xmlns:a="http://schemas.openxmlformats.org/drawingml/2006/main">
            <a:pPr algn="ctr">
              <a:defRPr sz="1875">
                <a:solidFill>
                  <a:srgbClr val="0033CC"/>
                </a:solidFill>
              </a:defRPr>
            </a:pPr>
            <a:r>
              <a:rPr sz="1875">
                <a:solidFill>
                  <a:srgbClr val="0033CC"/>
                </a:solidFill>
              </a:rPr>
              <a:t>Next-token predictions</a:t>
            </a:r>
          </a:p>
        </p:txBody>
      </p:sp>
      <p:sp>
        <p:nvSpPr>
          <p:cNvPr id="20" name="">
            <a:extLst xmlns:a="http://schemas.openxmlformats.org/drawingml/2006/main">
              <a:ext uri="{FF2B5EF4-FFF2-40B4-BE49-F238E27FC236}">
                <a16:creationId xmlns:a16="http://schemas.microsoft.com/office/drawing/2014/main" id="{ACA09FF3-5B0E-4D4A-B6CA-287E94B4F07E}"/>
              </a:ext>
            </a:extLst>
          </p:cNvPr>
          <p:cNvSpPr>
            <a:spLocks xmlns:a="http://schemas.openxmlformats.org/drawingml/2006/main" noGrp="1"/>
          </p:cNvSpPr>
          <p:nvPr/>
        </p:nvSpPr>
        <p:spPr>
          <a:xfrm xmlns:a="http://schemas.openxmlformats.org/drawingml/2006/main">
            <a:off x="952500" y="3857625"/>
            <a:ext cx="2476500" cy="742950"/>
          </a:xfrm>
          <a:prstGeom xmlns:a="http://schemas.openxmlformats.org/drawingml/2006/main" prst="rect">
            <a:avLst/>
          </a:prstGeom>
          <a:solidFill xmlns:a="http://schemas.openxmlformats.org/drawingml/2006/main">
            <a:srgbClr val="E8EBF4"/>
          </a:solidFill>
          <a:ln xmlns:a="http://schemas.openxmlformats.org/drawingml/2006/main" w="19050">
            <a:solidFill>
              <a:srgbClr val="4472C4"/>
            </a:solidFill>
          </a:ln>
        </p:spPr>
        <p:txBody>
          <a:bodyPr xmlns:a="http://schemas.openxmlformats.org/drawingml/2006/main" anchor="ctr"/>
          <a:lstStyle xmlns:a="http://schemas.openxmlformats.org/drawingml/2006/main">
            <a:defPPr algn="ctr">
              <a:defRPr sz="1875">
                <a:solidFill>
                  <a:srgbClr val="0033CC"/>
                </a:solidFill>
              </a:defRPr>
            </a:defPPr>
            <a:lvl1pPr algn="ctr">
              <a:defRPr sz="1875">
                <a:solidFill>
                  <a:srgbClr val="0033CC"/>
                </a:solidFill>
              </a:defRPr>
            </a:lvl1pPr>
            <a:lvl2pPr algn="ctr">
              <a:defRPr sz="1875">
                <a:solidFill>
                  <a:srgbClr val="0033CC"/>
                </a:solidFill>
              </a:defRPr>
            </a:lvl2pPr>
            <a:lvl3pPr algn="ctr">
              <a:defRPr sz="1875">
                <a:solidFill>
                  <a:srgbClr val="0033CC"/>
                </a:solidFill>
              </a:defRPr>
            </a:lvl3pPr>
            <a:lvl4pPr algn="ctr">
              <a:defRPr sz="1875">
                <a:solidFill>
                  <a:srgbClr val="0033CC"/>
                </a:solidFill>
              </a:defRPr>
            </a:lvl4pPr>
            <a:lvl5pPr algn="ctr">
              <a:defRPr sz="1875">
                <a:solidFill>
                  <a:srgbClr val="0033CC"/>
                </a:solidFill>
              </a:defRPr>
            </a:lvl5pPr>
            <a:lvl6pPr algn="ctr">
              <a:defRPr sz="1875">
                <a:solidFill>
                  <a:srgbClr val="0033CC"/>
                </a:solidFill>
              </a:defRPr>
            </a:lvl6pPr>
            <a:lvl7pPr algn="ctr">
              <a:defRPr sz="1875">
                <a:solidFill>
                  <a:srgbClr val="0033CC"/>
                </a:solidFill>
              </a:defRPr>
            </a:lvl7pPr>
            <a:lvl8pPr algn="ctr">
              <a:defRPr sz="1875">
                <a:solidFill>
                  <a:srgbClr val="0033CC"/>
                </a:solidFill>
              </a:defRPr>
            </a:lvl8pPr>
            <a:lvl9pPr algn="ctr">
              <a:defRPr sz="1875">
                <a:solidFill>
                  <a:srgbClr val="0033CC"/>
                </a:solidFill>
              </a:defRPr>
            </a:lvl9pPr>
          </a:lstStyle>
          <a:p xmlns:a="http://schemas.openxmlformats.org/drawingml/2006/main">
            <a:pPr algn="ctr">
              <a:defRPr sz="1875">
                <a:solidFill>
                  <a:srgbClr val="0033CC"/>
                </a:solidFill>
              </a:defRPr>
            </a:pPr>
            <a:r>
              <a:rPr sz="1875">
                <a:solidFill>
                  <a:srgbClr val="0033CC"/>
                </a:solidFill>
              </a:rPr>
              <a:t>Loss graph</a:t>
            </a:r>
          </a:p>
          <a:p xmlns:a="http://schemas.openxmlformats.org/drawingml/2006/main">
            <a:pPr algn="ctr">
              <a:defRPr sz="1875">
                <a:solidFill>
                  <a:srgbClr val="0033CC"/>
                </a:solidFill>
              </a:defRPr>
            </a:pPr>
            <a:r>
              <a:rPr sz="1875">
                <a:solidFill>
                  <a:srgbClr val="0033CC"/>
                </a:solidFill>
              </a:rPr>
              <a:t>Text continuation demo</a:t>
            </a:r>
          </a:p>
        </p:txBody>
      </p:sp>
      <p:sp>
        <p:nvSpPr>
          <p:cNvPr id="21" name="">
            <a:extLst xmlns:a="http://schemas.openxmlformats.org/drawingml/2006/main">
              <a:ext uri="{FF2B5EF4-FFF2-40B4-BE49-F238E27FC236}">
                <a16:creationId xmlns:a16="http://schemas.microsoft.com/office/drawing/2014/main" id="{7297F2C9-2C7D-42BF-9941-9CB110C145CA}"/>
              </a:ext>
            </a:extLst>
          </p:cNvPr>
          <p:cNvSpPr>
            <a:spLocks xmlns:a="http://schemas.openxmlformats.org/drawingml/2006/main" noGrp="1"/>
          </p:cNvSpPr>
          <p:nvPr/>
        </p:nvSpPr>
        <p:spPr>
          <a:xfrm xmlns:a="http://schemas.openxmlformats.org/drawingml/2006/main">
            <a:off x="4238625" y="3857625"/>
            <a:ext cx="2476500" cy="742950"/>
          </a:xfrm>
          <a:prstGeom xmlns:a="http://schemas.openxmlformats.org/drawingml/2006/main" prst="rect">
            <a:avLst/>
          </a:prstGeom>
          <a:solidFill xmlns:a="http://schemas.openxmlformats.org/drawingml/2006/main">
            <a:srgbClr val="E8EBF4"/>
          </a:solidFill>
          <a:ln xmlns:a="http://schemas.openxmlformats.org/drawingml/2006/main" w="19050">
            <a:solidFill>
              <a:srgbClr val="4472C4"/>
            </a:solidFill>
          </a:ln>
        </p:spPr>
        <p:txBody>
          <a:bodyPr xmlns:a="http://schemas.openxmlformats.org/drawingml/2006/main" anchor="ctr"/>
          <a:lstStyle xmlns:a="http://schemas.openxmlformats.org/drawingml/2006/main">
            <a:defPPr algn="ctr">
              <a:defRPr sz="1875">
                <a:solidFill>
                  <a:srgbClr val="0033CC"/>
                </a:solidFill>
              </a:defRPr>
            </a:defPPr>
            <a:lvl1pPr algn="ctr">
              <a:defRPr sz="1875">
                <a:solidFill>
                  <a:srgbClr val="0033CC"/>
                </a:solidFill>
              </a:defRPr>
            </a:lvl1pPr>
            <a:lvl2pPr algn="ctr">
              <a:defRPr sz="1875">
                <a:solidFill>
                  <a:srgbClr val="0033CC"/>
                </a:solidFill>
              </a:defRPr>
            </a:lvl2pPr>
            <a:lvl3pPr algn="ctr">
              <a:defRPr sz="1875">
                <a:solidFill>
                  <a:srgbClr val="0033CC"/>
                </a:solidFill>
              </a:defRPr>
            </a:lvl3pPr>
            <a:lvl4pPr algn="ctr">
              <a:defRPr sz="1875">
                <a:solidFill>
                  <a:srgbClr val="0033CC"/>
                </a:solidFill>
              </a:defRPr>
            </a:lvl4pPr>
            <a:lvl5pPr algn="ctr">
              <a:defRPr sz="1875">
                <a:solidFill>
                  <a:srgbClr val="0033CC"/>
                </a:solidFill>
              </a:defRPr>
            </a:lvl5pPr>
            <a:lvl6pPr algn="ctr">
              <a:defRPr sz="1875">
                <a:solidFill>
                  <a:srgbClr val="0033CC"/>
                </a:solidFill>
              </a:defRPr>
            </a:lvl6pPr>
            <a:lvl7pPr algn="ctr">
              <a:defRPr sz="1875">
                <a:solidFill>
                  <a:srgbClr val="0033CC"/>
                </a:solidFill>
              </a:defRPr>
            </a:lvl7pPr>
            <a:lvl8pPr algn="ctr">
              <a:defRPr sz="1875">
                <a:solidFill>
                  <a:srgbClr val="0033CC"/>
                </a:solidFill>
              </a:defRPr>
            </a:lvl8pPr>
            <a:lvl9pPr algn="ctr">
              <a:defRPr sz="1875">
                <a:solidFill>
                  <a:srgbClr val="0033CC"/>
                </a:solidFill>
              </a:defRPr>
            </a:lvl9pPr>
          </a:lstStyle>
          <a:p xmlns:a="http://schemas.openxmlformats.org/drawingml/2006/main">
            <a:pPr algn="ctr">
              <a:defRPr sz="1875">
                <a:solidFill>
                  <a:srgbClr val="0033CC"/>
                </a:solidFill>
              </a:defRPr>
            </a:pPr>
            <a:r>
              <a:rPr sz="1875">
                <a:solidFill>
                  <a:srgbClr val="0033CC"/>
                </a:solidFill>
              </a:rPr>
              <a:t>Held-out validation</a:t>
            </a:r>
          </a:p>
          <a:p xmlns:a="http://schemas.openxmlformats.org/drawingml/2006/main">
            <a:pPr algn="ctr">
              <a:defRPr sz="1875">
                <a:solidFill>
                  <a:srgbClr val="0033CC"/>
                </a:solidFill>
              </a:defRPr>
            </a:pPr>
            <a:r>
              <a:rPr sz="1875">
                <a:solidFill>
                  <a:srgbClr val="0033CC"/>
                </a:solidFill>
              </a:rPr>
              <a:t>Select checkpoint</a:t>
            </a:r>
          </a:p>
        </p:txBody>
      </p:sp>
      <p:sp>
        <p:nvSpPr>
          <p:cNvPr id="22" name="">
            <a:extLst xmlns:a="http://schemas.openxmlformats.org/drawingml/2006/main">
              <a:ext uri="{FF2B5EF4-FFF2-40B4-BE49-F238E27FC236}">
                <a16:creationId xmlns:a16="http://schemas.microsoft.com/office/drawing/2014/main" id="{081861F9-405F-4041-9602-684F39B7B0B7}"/>
              </a:ext>
            </a:extLst>
          </p:cNvPr>
          <p:cNvSpPr>
            <a:spLocks xmlns:a="http://schemas.openxmlformats.org/drawingml/2006/main" noGrp="1"/>
          </p:cNvSpPr>
          <p:nvPr/>
        </p:nvSpPr>
        <p:spPr>
          <a:xfrm xmlns:a="http://schemas.openxmlformats.org/drawingml/2006/main">
            <a:off x="7524750" y="3857625"/>
            <a:ext cx="3238500" cy="742950"/>
          </a:xfrm>
          <a:prstGeom xmlns:a="http://schemas.openxmlformats.org/drawingml/2006/main" prst="rect">
            <a:avLst/>
          </a:prstGeom>
          <a:solidFill xmlns:a="http://schemas.openxmlformats.org/drawingml/2006/main">
            <a:srgbClr val="E8EBF4"/>
          </a:solidFill>
          <a:ln xmlns:a="http://schemas.openxmlformats.org/drawingml/2006/main" w="19050">
            <a:solidFill>
              <a:srgbClr val="4472C4"/>
            </a:solidFill>
          </a:ln>
        </p:spPr>
        <p:txBody>
          <a:bodyPr xmlns:a="http://schemas.openxmlformats.org/drawingml/2006/main" anchor="ctr"/>
          <a:lstStyle xmlns:a="http://schemas.openxmlformats.org/drawingml/2006/main">
            <a:defPPr algn="ctr">
              <a:defRPr sz="1875">
                <a:solidFill>
                  <a:srgbClr val="0033CC"/>
                </a:solidFill>
              </a:defRPr>
            </a:defPPr>
            <a:lvl1pPr algn="ctr">
              <a:defRPr sz="1875">
                <a:solidFill>
                  <a:srgbClr val="0033CC"/>
                </a:solidFill>
              </a:defRPr>
            </a:lvl1pPr>
            <a:lvl2pPr algn="ctr">
              <a:defRPr sz="1875">
                <a:solidFill>
                  <a:srgbClr val="0033CC"/>
                </a:solidFill>
              </a:defRPr>
            </a:lvl2pPr>
            <a:lvl3pPr algn="ctr">
              <a:defRPr sz="1875">
                <a:solidFill>
                  <a:srgbClr val="0033CC"/>
                </a:solidFill>
              </a:defRPr>
            </a:lvl3pPr>
            <a:lvl4pPr algn="ctr">
              <a:defRPr sz="1875">
                <a:solidFill>
                  <a:srgbClr val="0033CC"/>
                </a:solidFill>
              </a:defRPr>
            </a:lvl4pPr>
            <a:lvl5pPr algn="ctr">
              <a:defRPr sz="1875">
                <a:solidFill>
                  <a:srgbClr val="0033CC"/>
                </a:solidFill>
              </a:defRPr>
            </a:lvl5pPr>
            <a:lvl6pPr algn="ctr">
              <a:defRPr sz="1875">
                <a:solidFill>
                  <a:srgbClr val="0033CC"/>
                </a:solidFill>
              </a:defRPr>
            </a:lvl6pPr>
            <a:lvl7pPr algn="ctr">
              <a:defRPr sz="1875">
                <a:solidFill>
                  <a:srgbClr val="0033CC"/>
                </a:solidFill>
              </a:defRPr>
            </a:lvl7pPr>
            <a:lvl8pPr algn="ctr">
              <a:defRPr sz="1875">
                <a:solidFill>
                  <a:srgbClr val="0033CC"/>
                </a:solidFill>
              </a:defRPr>
            </a:lvl8pPr>
            <a:lvl9pPr algn="ctr">
              <a:defRPr sz="1875">
                <a:solidFill>
                  <a:srgbClr val="0033CC"/>
                </a:solidFill>
              </a:defRPr>
            </a:lvl9pPr>
          </a:lstStyle>
          <a:p xmlns:a="http://schemas.openxmlformats.org/drawingml/2006/main">
            <a:pPr algn="ctr">
              <a:defRPr sz="1875">
                <a:solidFill>
                  <a:srgbClr val="0033CC"/>
                </a:solidFill>
              </a:defRPr>
            </a:pPr>
            <a:r>
              <a:rPr sz="1875">
                <a:solidFill>
                  <a:srgbClr val="0033CC"/>
                </a:solidFill>
              </a:rPr>
              <a:t>Training loss</a:t>
            </a:r>
          </a:p>
          <a:p xmlns:a="http://schemas.openxmlformats.org/drawingml/2006/main">
            <a:pPr algn="ctr">
              <a:defRPr sz="1875">
                <a:solidFill>
                  <a:srgbClr val="0033CC"/>
                </a:solidFill>
              </a:defRPr>
            </a:pPr>
            <a:r>
              <a:rPr sz="1875">
                <a:solidFill>
                  <a:srgbClr val="0033CC"/>
                </a:solidFill>
              </a:rPr>
              <a:t>Update model weights</a:t>
            </a:r>
          </a:p>
        </p:txBody>
      </p:sp>
      <p:sp>
        <p:nvSpPr>
          <p:cNvPr id="23" name="">
            <a:extLst xmlns:a="http://schemas.openxmlformats.org/drawingml/2006/main">
              <a:ext uri="{FF2B5EF4-FFF2-40B4-BE49-F238E27FC236}">
                <a16:creationId xmlns:a16="http://schemas.microsoft.com/office/drawing/2014/main" id="{0FD7EAF0-C4F8-4EA6-AF43-FBCCABF5F19A}"/>
              </a:ext>
            </a:extLst>
          </p:cNvPr>
          <p:cNvSpPr>
            <a:spLocks xmlns:a="http://schemas.openxmlformats.org/drawingml/2006/main" noGrp="1"/>
          </p:cNvSpPr>
          <p:nvPr/>
        </p:nvSpPr>
        <p:spPr>
          <a:xfrm xmlns:a="http://schemas.openxmlformats.org/drawingml/2006/main">
            <a:off x="3571875" y="4076700"/>
            <a:ext cx="476250" cy="285750"/>
          </a:xfrm>
          <a:prstGeom xmlns:a="http://schemas.openxmlformats.org/drawingml/2006/main" prst="leftArrow">
            <a:avLst/>
          </a:prstGeom>
          <a:solidFill xmlns:a="http://schemas.openxmlformats.org/drawingml/2006/main">
            <a:srgbClr val="4472C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EDD0B9F-55D4-41F2-8C58-580E16236941}"/>
              </a:ext>
            </a:extLst>
          </p:cNvPr>
          <p:cNvSpPr>
            <a:spLocks xmlns:a="http://schemas.openxmlformats.org/drawingml/2006/main" noGrp="1"/>
          </p:cNvSpPr>
          <p:nvPr/>
        </p:nvSpPr>
        <p:spPr>
          <a:xfrm xmlns:a="http://schemas.openxmlformats.org/drawingml/2006/main">
            <a:off x="6858000" y="4076700"/>
            <a:ext cx="476250" cy="285750"/>
          </a:xfrm>
          <a:prstGeom xmlns:a="http://schemas.openxmlformats.org/drawingml/2006/main" prst="leftArrow">
            <a:avLst/>
          </a:prstGeom>
          <a:solidFill xmlns:a="http://schemas.openxmlformats.org/drawingml/2006/main">
            <a:srgbClr val="4472C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704EA65-651E-458D-A2BB-B92795F9B0F4}"/>
              </a:ext>
            </a:extLst>
          </p:cNvPr>
          <p:cNvSpPr>
            <a:spLocks xmlns:a="http://schemas.openxmlformats.org/drawingml/2006/main" noGrp="1"/>
          </p:cNvSpPr>
          <p:nvPr/>
        </p:nvSpPr>
        <p:spPr>
          <a:xfrm xmlns:a="http://schemas.openxmlformats.org/drawingml/2006/main">
            <a:off x="9001125" y="3238500"/>
            <a:ext cx="285750" cy="457200"/>
          </a:xfrm>
          <a:prstGeom xmlns:a="http://schemas.openxmlformats.org/drawingml/2006/main" prst="downArrow">
            <a:avLst/>
          </a:prstGeom>
          <a:solidFill xmlns:a="http://schemas.openxmlformats.org/drawingml/2006/main">
            <a:srgbClr val="4472C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621D54D-52EC-4F1C-B596-A2EC79949CA1}"/>
              </a:ext>
            </a:extLst>
          </p:cNvPr>
          <p:cNvSpPr>
            <a:spLocks xmlns:a="http://schemas.openxmlformats.org/drawingml/2006/main" noGrp="1"/>
          </p:cNvSpPr>
          <p:nvPr/>
        </p:nvSpPr>
        <p:spPr>
          <a:xfrm xmlns:a="http://schemas.openxmlformats.org/drawingml/2006/main">
            <a:off x="952500" y="5381625"/>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0">
                <a:solidFill>
                  <a:srgbClr val="0033CC"/>
                </a:solidFill>
              </a:defRPr>
            </a:defPPr>
            <a:lvl1pPr algn="l">
              <a:defRPr sz="2100" b="0">
                <a:solidFill>
                  <a:srgbClr val="0033CC"/>
                </a:solidFill>
              </a:defRPr>
            </a:lvl1pPr>
            <a:lvl2pPr algn="l">
              <a:defRPr sz="2100" b="0">
                <a:solidFill>
                  <a:srgbClr val="0033CC"/>
                </a:solidFill>
              </a:defRPr>
            </a:lvl2pPr>
            <a:lvl3pPr algn="l">
              <a:defRPr sz="2100" b="0">
                <a:solidFill>
                  <a:srgbClr val="0033CC"/>
                </a:solidFill>
              </a:defRPr>
            </a:lvl3pPr>
            <a:lvl4pPr algn="l">
              <a:defRPr sz="2100" b="0">
                <a:solidFill>
                  <a:srgbClr val="0033CC"/>
                </a:solidFill>
              </a:defRPr>
            </a:lvl4pPr>
            <a:lvl5pPr algn="l">
              <a:defRPr sz="2100" b="0">
                <a:solidFill>
                  <a:srgbClr val="0033CC"/>
                </a:solidFill>
              </a:defRPr>
            </a:lvl5pPr>
            <a:lvl6pPr algn="l">
              <a:defRPr sz="2100" b="0">
                <a:solidFill>
                  <a:srgbClr val="0033CC"/>
                </a:solidFill>
              </a:defRPr>
            </a:lvl6pPr>
            <a:lvl7pPr algn="l">
              <a:defRPr sz="2100" b="0">
                <a:solidFill>
                  <a:srgbClr val="0033CC"/>
                </a:solidFill>
              </a:defRPr>
            </a:lvl7pPr>
            <a:lvl8pPr algn="l">
              <a:defRPr sz="2100" b="0">
                <a:solidFill>
                  <a:srgbClr val="0033CC"/>
                </a:solidFill>
              </a:defRPr>
            </a:lvl8pPr>
            <a:lvl9pPr algn="l">
              <a:defRPr sz="2100" b="0">
                <a:solidFill>
                  <a:srgbClr val="0033CC"/>
                </a:solidFill>
              </a:defRPr>
            </a:lvl9pPr>
          </a:lstStyle>
          <a:p xmlns:a="http://schemas.openxmlformats.org/drawingml/2006/main">
            <a:pPr algn="l">
              <a:defRPr sz="2100" b="0">
                <a:solidFill>
                  <a:srgbClr val="0033CC"/>
                </a:solidFill>
              </a:defRPr>
            </a:pPr>
            <a:r>
              <a:rPr sz="2100" b="0">
                <a:solidFill>
                  <a:srgbClr val="0033CC"/>
                </a:solidFill>
              </a:rPr>
              <a:t>Next phase: train Mamba using the same data and compare both models.</a:t>
            </a:r>
          </a:p>
        </p:txBody>
      </p:sp>
    </p:spTree>
    <p:extLst>
      <p:ext uri="{BB962C8B-B14F-4D97-AF65-F5344CB8AC3E}">
        <p14:creationId xmlns:p14="http://schemas.microsoft.com/office/powerpoint/2010/main" val="16075182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10C55B5C-0A07-4460-8BD1-6A624DA73BC5}"/>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4ACA7F7C-1FA6-42C3-A278-6A435B40D1CE}"/>
              </a:ext>
            </a:extLst>
          </p:cNvPr>
          <p:cNvSpPr>
            <a:spLocks xmlns:a="http://schemas.openxmlformats.org/drawingml/2006/main" noGrp="1"/>
          </p:cNvSpPr>
          <p:nvPr/>
        </p:nvSpPr>
        <p:spPr>
          <a:xfrm xmlns:a="http://schemas.openxmlformats.org/drawingml/2006/main">
            <a:off x="2895600" y="990600"/>
            <a:ext cx="78486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Preliminary Transformer results</a:t>
            </a:r>
            <a:endParaRPr sz="2400">
              <a:solidFill>
                <a:srgbClr val="FF0000"/>
              </a:solidFill>
              <a:latin typeface="Trebuchet MS"/>
              <a:ea typeface="Trebuchet MS"/>
              <a:cs typeface="Trebuchet MS"/>
            </a:endParaRPr>
          </a:p>
        </p:txBody>
      </p:sp>
      <p:sp>
        <p:nvSpPr>
          <p:cNvPr id="3" name="Slide Number Placeholder 2">
            <a:extLst xmlns:a="http://schemas.openxmlformats.org/drawingml/2006/main">
              <a:ext uri="{FF2B5EF4-FFF2-40B4-BE49-F238E27FC236}">
                <a16:creationId xmlns:a16="http://schemas.microsoft.com/office/drawing/2014/main" id="{0B754D29-FED2-4C58-AFD4-20A997C884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6</a:t>
            </a:fld>
            <a:endParaRPr/>
          </a:p>
        </p:txBody>
      </p:sp>
      <p:pic>
        <p:nvPicPr>
          <p:cNvPr id="8" name="Picture 12">
            <a:extLst xmlns:a="http://schemas.openxmlformats.org/drawingml/2006/main">
              <a:ext uri="{FF2B5EF4-FFF2-40B4-BE49-F238E27FC236}">
                <a16:creationId xmlns:a16="http://schemas.microsoft.com/office/drawing/2014/main" id="{2C5DD1FA-AB35-4F44-941F-6A23978865CF}"/>
              </a:ext>
            </a:extLst>
          </p:cNvPr>
          <p:cNvPicPr>
            <a:picLocks xmlns:a="http://schemas.openxmlformats.org/drawingml/2006/main" noChangeAspect="1"/>
          </p:cNvPicPr>
          <p:nvPr/>
        </p:nvPicPr>
        <p:blipFill>
          <a:blip xmlns:r="http://schemas.openxmlformats.org/officeDocument/2006/relationships" xmlns:a="http://schemas.openxmlformats.org/drawingml/2006/main" r:embed="Rded0a46ac0d04046"/>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9" name="Footer Placeholder 2">
            <a:extLst xmlns:a="http://schemas.openxmlformats.org/drawingml/2006/main">
              <a:ext uri="{FF2B5EF4-FFF2-40B4-BE49-F238E27FC236}">
                <a16:creationId xmlns:a16="http://schemas.microsoft.com/office/drawing/2014/main" id="{9EC7A139-1806-F7B8-F019-A64FFCD7B408}"/>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sp>
        <p:nvSpPr>
          <p:cNvPr id="15" name="">
            <a:extLst xmlns:a="http://schemas.openxmlformats.org/drawingml/2006/main">
              <a:ext uri="{FF2B5EF4-FFF2-40B4-BE49-F238E27FC236}">
                <a16:creationId xmlns:a16="http://schemas.microsoft.com/office/drawing/2014/main" id="{6D720251-2736-420A-B027-ACB9ED7AADF2}"/>
              </a:ext>
            </a:extLst>
          </p:cNvPr>
          <p:cNvSpPr>
            <a:spLocks xmlns:a="http://schemas.openxmlformats.org/drawingml/2006/main" noGrp="1"/>
          </p:cNvSpPr>
          <p:nvPr/>
        </p:nvSpPr>
        <p:spPr>
          <a:xfrm xmlns:a="http://schemas.openxmlformats.org/drawingml/2006/main">
            <a:off x="714375" y="2000250"/>
            <a:ext cx="3619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33CC"/>
                </a:solidFill>
              </a:defRPr>
            </a:defPPr>
            <a:lvl1pPr algn="l">
              <a:defRPr sz="1950" b="0">
                <a:solidFill>
                  <a:srgbClr val="0033CC"/>
                </a:solidFill>
              </a:defRPr>
            </a:lvl1pPr>
            <a:lvl2pPr algn="l">
              <a:defRPr sz="1950" b="0">
                <a:solidFill>
                  <a:srgbClr val="0033CC"/>
                </a:solidFill>
              </a:defRPr>
            </a:lvl2pPr>
            <a:lvl3pPr algn="l">
              <a:defRPr sz="1950" b="0">
                <a:solidFill>
                  <a:srgbClr val="0033CC"/>
                </a:solidFill>
              </a:defRPr>
            </a:lvl3pPr>
            <a:lvl4pPr algn="l">
              <a:defRPr sz="1950" b="0">
                <a:solidFill>
                  <a:srgbClr val="0033CC"/>
                </a:solidFill>
              </a:defRPr>
            </a:lvl4pPr>
            <a:lvl5pPr algn="l">
              <a:defRPr sz="1950" b="0">
                <a:solidFill>
                  <a:srgbClr val="0033CC"/>
                </a:solidFill>
              </a:defRPr>
            </a:lvl5pPr>
            <a:lvl6pPr algn="l">
              <a:defRPr sz="1950" b="0">
                <a:solidFill>
                  <a:srgbClr val="0033CC"/>
                </a:solidFill>
              </a:defRPr>
            </a:lvl6pPr>
            <a:lvl7pPr algn="l">
              <a:defRPr sz="1950" b="0">
                <a:solidFill>
                  <a:srgbClr val="0033CC"/>
                </a:solidFill>
              </a:defRPr>
            </a:lvl7pPr>
            <a:lvl8pPr algn="l">
              <a:defRPr sz="1950" b="0">
                <a:solidFill>
                  <a:srgbClr val="0033CC"/>
                </a:solidFill>
              </a:defRPr>
            </a:lvl8pPr>
            <a:lvl9pPr algn="l">
              <a:defRPr sz="1950" b="0">
                <a:solidFill>
                  <a:srgbClr val="0033CC"/>
                </a:solidFill>
              </a:defRPr>
            </a:lvl9pPr>
          </a:lstStyle>
          <a:p xmlns:a="http://schemas.openxmlformats.org/drawingml/2006/main">
            <a:pPr algn="l">
              <a:defRPr sz="1950" b="0">
                <a:solidFill>
                  <a:srgbClr val="0033CC"/>
                </a:solidFill>
              </a:defRPr>
            </a:pPr>
            <a:r>
              <a:rPr sz="1950" b="0">
                <a:solidFill>
                  <a:srgbClr val="0033CC"/>
                </a:solidFill>
              </a:rPr>
              <a:t>557,696 parameters</a:t>
            </a:r>
          </a:p>
          <a:p xmlns:a="http://schemas.openxmlformats.org/drawingml/2006/main">
            <a:pPr algn="l">
              <a:defRPr sz="1950" b="0">
                <a:solidFill>
                  <a:srgbClr val="0033CC"/>
                </a:solidFill>
              </a:defRPr>
            </a:pPr>
            <a:r>
              <a:rPr sz="1950" b="0">
                <a:solidFill>
                  <a:srgbClr val="0033CC"/>
                </a:solidFill>
              </a:rPr>
              <a:t>2 layers • width 128 • 4 heads</a:t>
            </a:r>
          </a:p>
          <a:p xmlns:a="http://schemas.openxmlformats.org/drawingml/2006/main">
            <a:pPr algn="l">
              <a:defRPr sz="1950" b="0">
                <a:solidFill>
                  <a:srgbClr val="0033CC"/>
                </a:solidFill>
              </a:defRPr>
            </a:pPr>
            <a:r>
              <a:rPr sz="1950" b="0">
                <a:solidFill>
                  <a:srgbClr val="0033CC"/>
                </a:solidFill>
              </a:rPr>
              <a:t>300 updates • CPU • float32</a:t>
            </a:r>
          </a:p>
          <a:p xmlns:a="http://schemas.openxmlformats.org/drawingml/2006/main">
            <a:r>
              <a:t/>
            </a:r>
          </a:p>
          <a:p xmlns:a="http://schemas.openxmlformats.org/drawingml/2006/main">
            <a:pPr algn="l">
              <a:defRPr sz="1950" b="0">
                <a:solidFill>
                  <a:srgbClr val="0033CC"/>
                </a:solidFill>
              </a:defRPr>
            </a:pPr>
            <a:r>
              <a:rPr sz="1950" b="0">
                <a:solidFill>
                  <a:srgbClr val="0033CC"/>
                </a:solidFill>
              </a:rPr>
              <a:t>Validation loss</a:t>
            </a:r>
          </a:p>
          <a:p xmlns:a="http://schemas.openxmlformats.org/drawingml/2006/main">
            <a:pPr algn="l">
              <a:defRPr sz="1950" b="0">
                <a:solidFill>
                  <a:srgbClr val="0033CC"/>
                </a:solidFill>
              </a:defRPr>
            </a:pPr>
            <a:r>
              <a:rPr sz="1950" b="0">
                <a:solidFill>
                  <a:srgbClr val="0033CC"/>
                </a:solidFill>
              </a:rPr>
              <a:t>6.966 to 4.741</a:t>
            </a:r>
          </a:p>
          <a:p xmlns:a="http://schemas.openxmlformats.org/drawingml/2006/main">
            <a:r>
              <a:t/>
            </a:r>
          </a:p>
          <a:p xmlns:a="http://schemas.openxmlformats.org/drawingml/2006/main">
            <a:pPr algn="l">
              <a:defRPr sz="1950" b="0">
                <a:solidFill>
                  <a:srgbClr val="0033CC"/>
                </a:solidFill>
              </a:defRPr>
            </a:pPr>
            <a:r>
              <a:rPr sz="1950" b="0">
                <a:solidFill>
                  <a:srgbClr val="0033CC"/>
                </a:solidFill>
              </a:rPr>
              <a:t>Best validation perplexity</a:t>
            </a:r>
          </a:p>
          <a:p xmlns:a="http://schemas.openxmlformats.org/drawingml/2006/main">
            <a:pPr algn="l">
              <a:defRPr sz="1950" b="0">
                <a:solidFill>
                  <a:srgbClr val="0033CC"/>
                </a:solidFill>
              </a:defRPr>
            </a:pPr>
            <a:r>
              <a:rPr sz="1950" b="0">
                <a:solidFill>
                  <a:srgbClr val="0033CC"/>
                </a:solidFill>
              </a:rPr>
              <a:t>114.60</a:t>
            </a:r>
          </a:p>
        </p:txBody>
      </p:sp>
      <p:graphicFrame>
        <p:nvGraphicFramePr>
          <p:cNvPr id="16" name="Chart">
            <a:extLst xmlns:a="http://schemas.openxmlformats.org/drawingml/2006/main">
              <a:ext uri="{FF2B5EF4-FFF2-40B4-BE49-F238E27FC236}">
                <a16:creationId xmlns:a16="http://schemas.microsoft.com/office/drawing/2014/main" id="{99BEB726-4682-42FF-A456-3744281249B5}"/>
              </a:ext>
            </a:extLst>
          </p:cNvPr>
          <p:cNvGraphicFramePr/>
          <p:nvPr/>
        </p:nvGraphicFramePr>
        <p:xfrm>
          <a:off xmlns:a="http://schemas.openxmlformats.org/drawingml/2006/main" x="4524375" y="1952625"/>
          <a:ext xmlns:a="http://schemas.openxmlformats.org/drawingml/2006/main" cx="6858000" cy="3524250"/>
        </p:xfrm>
        <a:graphic xmlns:a="http://schemas.openxmlformats.org/drawingml/2006/main">
          <a:graphicData uri="http://schemas.openxmlformats.org/drawingml/2006/chart">
            <c:chart xmlns:r="http://schemas.openxmlformats.org/officeDocument/2006/relationships" xmlns:c="http://schemas.openxmlformats.org/drawingml/2006/chart" r:id="Ra58e3a95cdb24ef8"/>
          </a:graphicData>
        </a:graphic>
      </p:graphicFrame>
      <p:sp>
        <p:nvSpPr>
          <p:cNvPr id="17" name="">
            <a:extLst xmlns:a="http://schemas.openxmlformats.org/drawingml/2006/main">
              <a:ext uri="{FF2B5EF4-FFF2-40B4-BE49-F238E27FC236}">
                <a16:creationId xmlns:a16="http://schemas.microsoft.com/office/drawing/2014/main" id="{912D4665-718D-4516-9CA7-CBB6E37DB219}"/>
              </a:ext>
            </a:extLst>
          </p:cNvPr>
          <p:cNvSpPr>
            <a:spLocks xmlns:a="http://schemas.openxmlformats.org/drawingml/2006/main" noGrp="1"/>
          </p:cNvSpPr>
          <p:nvPr/>
        </p:nvSpPr>
        <p:spPr>
          <a:xfrm xmlns:a="http://schemas.openxmlformats.org/drawingml/2006/main">
            <a:off x="714375" y="57150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0033CC"/>
                </a:solidFill>
              </a:defRPr>
            </a:defPPr>
            <a:lvl1pPr algn="l">
              <a:defRPr sz="1800" b="0">
                <a:solidFill>
                  <a:srgbClr val="0033CC"/>
                </a:solidFill>
              </a:defRPr>
            </a:lvl1pPr>
            <a:lvl2pPr algn="l">
              <a:defRPr sz="1800" b="0">
                <a:solidFill>
                  <a:srgbClr val="0033CC"/>
                </a:solidFill>
              </a:defRPr>
            </a:lvl2pPr>
            <a:lvl3pPr algn="l">
              <a:defRPr sz="1800" b="0">
                <a:solidFill>
                  <a:srgbClr val="0033CC"/>
                </a:solidFill>
              </a:defRPr>
            </a:lvl3pPr>
            <a:lvl4pPr algn="l">
              <a:defRPr sz="1800" b="0">
                <a:solidFill>
                  <a:srgbClr val="0033CC"/>
                </a:solidFill>
              </a:defRPr>
            </a:lvl4pPr>
            <a:lvl5pPr algn="l">
              <a:defRPr sz="1800" b="0">
                <a:solidFill>
                  <a:srgbClr val="0033CC"/>
                </a:solidFill>
              </a:defRPr>
            </a:lvl5pPr>
            <a:lvl6pPr algn="l">
              <a:defRPr sz="1800" b="0">
                <a:solidFill>
                  <a:srgbClr val="0033CC"/>
                </a:solidFill>
              </a:defRPr>
            </a:lvl6pPr>
            <a:lvl7pPr algn="l">
              <a:defRPr sz="1800" b="0">
                <a:solidFill>
                  <a:srgbClr val="0033CC"/>
                </a:solidFill>
              </a:defRPr>
            </a:lvl7pPr>
            <a:lvl8pPr algn="l">
              <a:defRPr sz="1800" b="0">
                <a:solidFill>
                  <a:srgbClr val="0033CC"/>
                </a:solidFill>
              </a:defRPr>
            </a:lvl8pPr>
            <a:lvl9pPr algn="l">
              <a:defRPr sz="1800" b="0">
                <a:solidFill>
                  <a:srgbClr val="0033CC"/>
                </a:solidFill>
              </a:defRPr>
            </a:lvl9pPr>
          </a:lstStyle>
          <a:p xmlns:a="http://schemas.openxmlformats.org/drawingml/2006/main">
            <a:pPr algn="l">
              <a:defRPr sz="1800" b="0">
                <a:solidFill>
                  <a:srgbClr val="0033CC"/>
                </a:solidFill>
              </a:defRPr>
            </a:pPr>
            <a:r>
              <a:rPr sz="1800" b="0">
                <a:solidFill>
                  <a:srgbClr val="0033CC"/>
                </a:solidFill>
              </a:rPr>
              <a:t>Small pilot, one seed. Generated text remains rough; Mamba comparison is pending.</a:t>
            </a:r>
          </a:p>
        </p:txBody>
      </p:sp>
    </p:spTree>
    <p:extLst>
      <p:ext uri="{BB962C8B-B14F-4D97-AF65-F5344CB8AC3E}">
        <p14:creationId xmlns:p14="http://schemas.microsoft.com/office/powerpoint/2010/main" val="134331494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91FBE649-CE62-476C-8FFC-DDF0B2F65C32}"/>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14" name="Text Box 34">
            <a:extLst xmlns:a="http://schemas.openxmlformats.org/drawingml/2006/main">
              <a:ext uri="{FF2B5EF4-FFF2-40B4-BE49-F238E27FC236}">
                <a16:creationId xmlns:a16="http://schemas.microsoft.com/office/drawing/2014/main" id="{8F30E31A-6820-4C5E-B142-A3ACF5527408}"/>
              </a:ext>
            </a:extLst>
          </p:cNvPr>
          <p:cNvSpPr>
            <a:spLocks xmlns:a="http://schemas.openxmlformats.org/drawingml/2006/main" noGrp="1"/>
          </p:cNvSpPr>
          <p:nvPr/>
        </p:nvSpPr>
        <p:spPr>
          <a:xfrm xmlns:a="http://schemas.openxmlformats.org/drawingml/2006/main">
            <a:off x="2895600" y="990600"/>
            <a:ext cx="78486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Done and remaining</a:t>
            </a:r>
            <a:endParaRPr sz="2400">
              <a:solidFill>
                <a:srgbClr val="FF0000"/>
              </a:solidFill>
              <a:latin typeface="Trebuchet MS"/>
              <a:ea typeface="Trebuchet MS"/>
              <a:cs typeface="Trebuchet MS"/>
            </a:endParaRPr>
          </a:p>
        </p:txBody>
      </p:sp>
      <p:sp>
        <p:nvSpPr>
          <p:cNvPr id="3" name="Slide Number Placeholder 2">
            <a:extLst xmlns:a="http://schemas.openxmlformats.org/drawingml/2006/main">
              <a:ext uri="{FF2B5EF4-FFF2-40B4-BE49-F238E27FC236}">
                <a16:creationId xmlns:a16="http://schemas.microsoft.com/office/drawing/2014/main" id="{0B754D29-FED2-4C58-AFD4-20A997C884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7</a:t>
            </a:fld>
            <a:endParaRPr/>
          </a:p>
        </p:txBody>
      </p:sp>
      <p:pic>
        <p:nvPicPr>
          <p:cNvPr id="8" name="Picture 12">
            <a:extLst xmlns:a="http://schemas.openxmlformats.org/drawingml/2006/main">
              <a:ext uri="{FF2B5EF4-FFF2-40B4-BE49-F238E27FC236}">
                <a16:creationId xmlns:a16="http://schemas.microsoft.com/office/drawing/2014/main" id="{E4DC85BE-323A-4D1B-A25F-16ABB8007B57}"/>
              </a:ext>
            </a:extLst>
          </p:cNvPr>
          <p:cNvPicPr>
            <a:picLocks xmlns:a="http://schemas.openxmlformats.org/drawingml/2006/main" noChangeAspect="1"/>
          </p:cNvPicPr>
          <p:nvPr/>
        </p:nvPicPr>
        <p:blipFill>
          <a:blip xmlns:r="http://schemas.openxmlformats.org/officeDocument/2006/relationships" xmlns:a="http://schemas.openxmlformats.org/drawingml/2006/main" r:embed="R2a6cb20e28254c70"/>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9" name="Footer Placeholder 2">
            <a:extLst xmlns:a="http://schemas.openxmlformats.org/drawingml/2006/main">
              <a:ext uri="{FF2B5EF4-FFF2-40B4-BE49-F238E27FC236}">
                <a16:creationId xmlns:a16="http://schemas.microsoft.com/office/drawing/2014/main" id="{AD0150CC-18D7-F3B9-DCBD-A5C13CBCB791}"/>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graphicFrame>
        <p:nvGraphicFramePr>
          <p:cNvPr id="15" name="">
            <a:extLst xmlns:a="http://schemas.openxmlformats.org/drawingml/2006/main">
              <a:ext uri="{FF2B5EF4-FFF2-40B4-BE49-F238E27FC236}">
                <a16:creationId xmlns:a16="http://schemas.microsoft.com/office/drawing/2014/main" id="{5521B55C-E73C-482E-B708-B323C26C58B4}"/>
              </a:ext>
            </a:extLst>
          </p:cNvPr>
          <p:cNvGraphicFramePr/>
          <p:nvPr/>
        </p:nvGraphicFramePr>
        <p:xfrm>
          <a:off xmlns:a="http://schemas.openxmlformats.org/drawingml/2006/main" x="523875" y="2095500"/>
          <a:ext xmlns:a="http://schemas.openxmlformats.org/drawingml/2006/main" cx="11049000" cy="3905250"/>
        </p:xfrm>
        <a:graphic xmlns:a="http://schemas.openxmlformats.org/drawingml/2006/main">
          <a:graphicData uri="http://schemas.openxmlformats.org/drawingml/2006/table">
            <a:tbl>
              <a:tblPr/>
              <a:tblGrid>
                <a:gridCol w="619125"/>
                <a:gridCol w="8143875"/>
                <a:gridCol w="2286000"/>
              </a:tblGrid>
              <a:tr h="488156">
                <a:tc>
                  <a:txBody>
                    <a:bodyPr/>
                    <a:lstStyle/>
                    <a:p>
                      <a:r>
                        <a:rPr sz="1725" b="1">
                          <a:solidFill>
                            <a:srgbClr val="FFFFFF"/>
                          </a:solidFill>
                        </a:rPr>
                        <a:t>No</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725" b="1">
                          <a:solidFill>
                            <a:srgbClr val="FFFFFF"/>
                          </a:solidFill>
                        </a:rPr>
                        <a:t>Description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725" b="1">
                          <a:solidFill>
                            <a:srgbClr val="FFFFFF"/>
                          </a:solidFill>
                        </a:rPr>
                        <a:t>Status</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r>
              <a:tr h="488156">
                <a:tc>
                  <a:txBody>
                    <a:bodyPr/>
                    <a:lstStyle/>
                    <a:p>
                      <a:r>
                        <a:rPr sz="1725" b="0">
                          <a:solidFill>
                            <a:srgbClr val="202020"/>
                          </a:solidFill>
                        </a:rPr>
                        <a:t>1</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Transformer and Mamba-style architecture code</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Implemented</a:t>
                      </a:r>
                    </a:p>
                  </a:txBody>
                  <a:tcPr marL="91440" marR="91440" marT="45720" marB="45720">
                    <a:lnR w="9525">
                      <a:solidFill>
                        <a:srgbClr val="FFFFFF"/>
                      </a:solidFill>
                      <a:prstDash val="solid"/>
                    </a:lnR>
                    <a:lnB w="9525">
                      <a:solidFill>
                        <a:srgbClr val="FFFFFF"/>
                      </a:solidFill>
                      <a:prstDash val="solid"/>
                    </a:lnB>
                    <a:solidFill>
                      <a:srgbClr val="CFD5E9"/>
                    </a:solidFill>
                  </a:tcPr>
                </a:tc>
              </a:tr>
              <a:tr h="488156">
                <a:tc>
                  <a:txBody>
                    <a:bodyPr/>
                    <a:lstStyle/>
                    <a:p>
                      <a:r>
                        <a:rPr sz="1725" b="0">
                          <a:solidFill>
                            <a:srgbClr val="202020"/>
                          </a:solidFill>
                        </a:rPr>
                        <a:t>2</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FineWeb-Edu split, tokenizer and batches</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Done</a:t>
                      </a:r>
                    </a:p>
                  </a:txBody>
                  <a:tcPr marL="91440" marR="91440" marT="45720" marB="45720">
                    <a:lnR w="9525">
                      <a:solidFill>
                        <a:srgbClr val="FFFFFF"/>
                      </a:solidFill>
                      <a:prstDash val="solid"/>
                    </a:lnR>
                    <a:lnB w="9525">
                      <a:solidFill>
                        <a:srgbClr val="FFFFFF"/>
                      </a:solidFill>
                      <a:prstDash val="solid"/>
                    </a:lnB>
                    <a:solidFill>
                      <a:srgbClr val="E8EBF4"/>
                    </a:solidFill>
                  </a:tcPr>
                </a:tc>
              </a:tr>
              <a:tr h="488156">
                <a:tc>
                  <a:txBody>
                    <a:bodyPr/>
                    <a:lstStyle/>
                    <a:p>
                      <a:r>
                        <a:rPr sz="1725" b="0">
                          <a:solidFill>
                            <a:srgbClr val="202020"/>
                          </a:solidFill>
                        </a:rPr>
                        <a:t>3</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Small Transformer training and validation</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Done</a:t>
                      </a:r>
                    </a:p>
                  </a:txBody>
                  <a:tcPr marL="91440" marR="91440" marT="45720" marB="45720">
                    <a:lnR w="9525">
                      <a:solidFill>
                        <a:srgbClr val="FFFFFF"/>
                      </a:solidFill>
                      <a:prstDash val="solid"/>
                    </a:lnR>
                    <a:lnB w="9525">
                      <a:solidFill>
                        <a:srgbClr val="FFFFFF"/>
                      </a:solidFill>
                      <a:prstDash val="solid"/>
                    </a:lnB>
                    <a:solidFill>
                      <a:srgbClr val="CFD5E9"/>
                    </a:solidFill>
                  </a:tcPr>
                </a:tc>
              </a:tr>
              <a:tr h="488156">
                <a:tc>
                  <a:txBody>
                    <a:bodyPr/>
                    <a:lstStyle/>
                    <a:p>
                      <a:r>
                        <a:rPr sz="1725" b="0">
                          <a:solidFill>
                            <a:srgbClr val="202020"/>
                          </a:solidFill>
                        </a:rPr>
                        <a:t>4</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Checkpoint, loss graph and text demo</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Done</a:t>
                      </a:r>
                    </a:p>
                  </a:txBody>
                  <a:tcPr marL="91440" marR="91440" marT="45720" marB="45720">
                    <a:lnR w="9525">
                      <a:solidFill>
                        <a:srgbClr val="FFFFFF"/>
                      </a:solidFill>
                      <a:prstDash val="solid"/>
                    </a:lnR>
                    <a:lnB w="9525">
                      <a:solidFill>
                        <a:srgbClr val="FFFFFF"/>
                      </a:solidFill>
                      <a:prstDash val="solid"/>
                    </a:lnB>
                    <a:solidFill>
                      <a:srgbClr val="E8EBF4"/>
                    </a:solidFill>
                  </a:tcPr>
                </a:tc>
              </a:tr>
              <a:tr h="488156">
                <a:tc>
                  <a:txBody>
                    <a:bodyPr/>
                    <a:lstStyle/>
                    <a:p>
                      <a:r>
                        <a:rPr sz="1725" b="0">
                          <a:solidFill>
                            <a:srgbClr val="202020"/>
                          </a:solidFill>
                        </a:rPr>
                        <a:t>5</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Mamba dataset training and matched runs</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To do</a:t>
                      </a:r>
                    </a:p>
                  </a:txBody>
                  <a:tcPr marL="91440" marR="91440" marT="45720" marB="45720">
                    <a:lnR w="9525">
                      <a:solidFill>
                        <a:srgbClr val="FFFFFF"/>
                      </a:solidFill>
                      <a:prstDash val="solid"/>
                    </a:lnR>
                    <a:lnB w="9525">
                      <a:solidFill>
                        <a:srgbClr val="FFFFFF"/>
                      </a:solidFill>
                      <a:prstDash val="solid"/>
                    </a:lnB>
                    <a:solidFill>
                      <a:srgbClr val="CFD5E9"/>
                    </a:solidFill>
                  </a:tcPr>
                </a:tc>
              </a:tr>
              <a:tr h="488156">
                <a:tc>
                  <a:txBody>
                    <a:bodyPr/>
                    <a:lstStyle/>
                    <a:p>
                      <a:r>
                        <a:rPr sz="1725" b="0">
                          <a:solidFill>
                            <a:srgbClr val="202020"/>
                          </a:solidFill>
                        </a:rPr>
                        <a:t>6</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Latency, memory and throughput comparison</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To do</a:t>
                      </a:r>
                    </a:p>
                  </a:txBody>
                  <a:tcPr marL="91440" marR="91440" marT="45720" marB="45720">
                    <a:lnR w="9525">
                      <a:solidFill>
                        <a:srgbClr val="FFFFFF"/>
                      </a:solidFill>
                      <a:prstDash val="solid"/>
                    </a:lnR>
                    <a:lnB w="9525">
                      <a:solidFill>
                        <a:srgbClr val="FFFFFF"/>
                      </a:solidFill>
                      <a:prstDash val="solid"/>
                    </a:lnB>
                    <a:solidFill>
                      <a:srgbClr val="E8EBF4"/>
                    </a:solidFill>
                  </a:tcPr>
                </a:tc>
              </a:tr>
              <a:tr h="488156">
                <a:tc>
                  <a:txBody>
                    <a:bodyPr/>
                    <a:lstStyle/>
                    <a:p>
                      <a:r>
                        <a:rPr sz="1725" b="0">
                          <a:solidFill>
                            <a:srgbClr val="202020"/>
                          </a:solidFill>
                        </a:rPr>
                        <a:t>7</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Final paper, slides and five-minute video</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To do</a:t>
                      </a:r>
                    </a:p>
                  </a:txBody>
                  <a:tcPr marL="91440" marR="91440" marT="45720" marB="45720">
                    <a:lnR w="9525">
                      <a:solidFill>
                        <a:srgbClr val="FFFFFF"/>
                      </a:solidFill>
                      <a:prstDash val="solid"/>
                    </a:lnR>
                    <a:lnB w="9525">
                      <a:solidFill>
                        <a:srgbClr val="FFFFFF"/>
                      </a:solidFill>
                      <a:prstDash val="solid"/>
                    </a:lnB>
                    <a:solidFill>
                      <a:srgbClr val="CFD5E9"/>
                    </a:solidFill>
                  </a:tcPr>
                </a:tc>
              </a:tr>
            </a:tbl>
          </a:graphicData>
        </a:graphic>
      </p:graphicFrame>
    </p:spTree>
    <p:extLst>
      <p:ext uri="{BB962C8B-B14F-4D97-AF65-F5344CB8AC3E}">
        <p14:creationId xmlns:p14="http://schemas.microsoft.com/office/powerpoint/2010/main" val="4986076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A084F70-34DA-4002-BA40-3CF177C72116}"/>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3" name="Text Box 34">
            <a:extLst xmlns:a="http://schemas.openxmlformats.org/drawingml/2006/main">
              <a:ext uri="{FF2B5EF4-FFF2-40B4-BE49-F238E27FC236}">
                <a16:creationId xmlns:a16="http://schemas.microsoft.com/office/drawing/2014/main" id="{8C242F80-37C1-4C95-9B41-797CDD5118E3}"/>
              </a:ext>
            </a:extLst>
          </p:cNvPr>
          <p:cNvSpPr>
            <a:spLocks xmlns:a="http://schemas.openxmlformats.org/drawingml/2006/main" noGrp="1"/>
          </p:cNvSpPr>
          <p:nvPr/>
        </p:nvSpPr>
        <p:spPr>
          <a:xfrm xmlns:a="http://schemas.openxmlformats.org/drawingml/2006/main">
            <a:off x="2895600" y="1143002"/>
            <a:ext cx="77724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900" indent="-342900" algn="r">
              <a:spcBef>
                <a:spcPts val="0"/>
              </a:spcBef>
              <a:spcAft>
                <a:spcPts val="0"/>
              </a:spcAft>
              <a:buNone/>
              <a:defRPr sz="2400">
                <a:solidFill>
                  <a:srgbClr val="FF0000"/>
                </a:solidFill>
              </a:defRPr>
            </a:pPr>
            <a:r>
              <a:rPr sz="2400">
                <a:solidFill>
                  <a:srgbClr val="FF0000"/>
                </a:solidFill>
                <a:latin typeface="Trebuchet MS"/>
                <a:ea typeface="Trebuchet MS"/>
                <a:cs typeface="Trebuchet MS"/>
              </a:rPr>
              <a:t>Quantity and quality of work</a:t>
            </a:r>
            <a:endParaRPr sz="2400">
              <a:solidFill>
                <a:srgbClr val="FF0000"/>
              </a:solidFill>
              <a:latin typeface="Trebuchet MS"/>
              <a:ea typeface="Trebuchet MS"/>
              <a:cs typeface="Trebuchet MS"/>
            </a:endParaRPr>
          </a:p>
        </p:txBody>
      </p:sp>
      <p:sp>
        <p:nvSpPr>
          <p:cNvPr id="7" name="Slide Number Placeholder 6">
            <a:extLst xmlns:a="http://schemas.openxmlformats.org/drawingml/2006/main">
              <a:ext uri="{FF2B5EF4-FFF2-40B4-BE49-F238E27FC236}">
                <a16:creationId xmlns:a16="http://schemas.microsoft.com/office/drawing/2014/main" id="{9FD84D56-64A6-4DD8-9745-86FE2D07D7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8</a:t>
            </a:fld>
            <a:endParaRPr/>
          </a:p>
        </p:txBody>
      </p:sp>
      <p:pic>
        <p:nvPicPr>
          <p:cNvPr id="9" name="Picture 12">
            <a:extLst xmlns:a="http://schemas.openxmlformats.org/drawingml/2006/main">
              <a:ext uri="{FF2B5EF4-FFF2-40B4-BE49-F238E27FC236}">
                <a16:creationId xmlns:a16="http://schemas.microsoft.com/office/drawing/2014/main" id="{840B008A-373E-42CD-9B12-2F003F979512}"/>
              </a:ext>
            </a:extLst>
          </p:cNvPr>
          <p:cNvPicPr>
            <a:picLocks xmlns:a="http://schemas.openxmlformats.org/drawingml/2006/main" noChangeAspect="1"/>
          </p:cNvPicPr>
          <p:nvPr/>
        </p:nvPicPr>
        <p:blipFill>
          <a:blip xmlns:r="http://schemas.openxmlformats.org/officeDocument/2006/relationships" xmlns:a="http://schemas.openxmlformats.org/drawingml/2006/main" r:embed="Rc03a2d6a7ef44f6f"/>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10" name="Footer Placeholder 2">
            <a:extLst xmlns:a="http://schemas.openxmlformats.org/drawingml/2006/main">
              <a:ext uri="{FF2B5EF4-FFF2-40B4-BE49-F238E27FC236}">
                <a16:creationId xmlns:a16="http://schemas.microsoft.com/office/drawing/2014/main" id="{50220015-6FAB-38FE-BBE3-346292A68890}"/>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graphicFrame>
        <p:nvGraphicFramePr>
          <p:cNvPr id="11" name="">
            <a:extLst xmlns:a="http://schemas.openxmlformats.org/drawingml/2006/main">
              <a:ext uri="{FF2B5EF4-FFF2-40B4-BE49-F238E27FC236}">
                <a16:creationId xmlns:a16="http://schemas.microsoft.com/office/drawing/2014/main" id="{7601CAAD-6DC1-4962-AAB2-C455B461B1DA}"/>
              </a:ext>
            </a:extLst>
          </p:cNvPr>
          <p:cNvGraphicFramePr/>
          <p:nvPr/>
        </p:nvGraphicFramePr>
        <p:xfrm>
          <a:off xmlns:a="http://schemas.openxmlformats.org/drawingml/2006/main" x="523875" y="2095500"/>
          <a:ext xmlns:a="http://schemas.openxmlformats.org/drawingml/2006/main" cx="11049000" cy="3905250"/>
        </p:xfrm>
        <a:graphic xmlns:a="http://schemas.openxmlformats.org/drawingml/2006/main">
          <a:graphicData uri="http://schemas.openxmlformats.org/drawingml/2006/table">
            <a:tbl>
              <a:tblPr/>
              <a:tblGrid>
                <a:gridCol w="571500"/>
                <a:gridCol w="3333750"/>
                <a:gridCol w="1428750"/>
                <a:gridCol w="1238250"/>
                <a:gridCol w="4476750"/>
              </a:tblGrid>
              <a:tr h="557893">
                <a:tc>
                  <a:txBody>
                    <a:bodyPr/>
                    <a:lstStyle/>
                    <a:p>
                      <a:r>
                        <a:rPr sz="1725" b="1">
                          <a:solidFill>
                            <a:srgbClr val="FFFFFF"/>
                          </a:solidFill>
                        </a:rPr>
                        <a: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725" b="1">
                          <a:solidFill>
                            <a:srgbClr val="FFFFFF"/>
                          </a:solidFill>
                        </a:rPr>
                        <a:t>Functionality</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725" b="1">
                          <a:solidFill>
                            <a:srgbClr val="FFFFFF"/>
                          </a:solidFill>
                        </a:rPr>
                        <a:t>Pilot scope</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725" b="1">
                          <a:solidFill>
                            <a:srgbClr val="FFFFFF"/>
                          </a:solidFill>
                        </a:rPr>
                        <a:t>Runs?</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725" b="1">
                          <a:solidFill>
                            <a:srgbClr val="FFFFFF"/>
                          </a:solidFill>
                        </a:rPr>
                        <a:t>Limitation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r>
              <a:tr h="557893">
                <a:tc>
                  <a:txBody>
                    <a:bodyPr/>
                    <a:lstStyle/>
                    <a:p>
                      <a:r>
                        <a:rPr sz="1725" b="0">
                          <a:solidFill>
                            <a:srgbClr val="202020"/>
                          </a:solidFill>
                        </a:rPr>
                        <a:t>1</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Data and tokenizer</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100%</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Y</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Small ordered sample</a:t>
                      </a:r>
                    </a:p>
                  </a:txBody>
                  <a:tcPr marL="91440" marR="91440" marT="45720" marB="45720">
                    <a:lnR w="9525">
                      <a:solidFill>
                        <a:srgbClr val="FFFFFF"/>
                      </a:solidFill>
                      <a:prstDash val="solid"/>
                    </a:lnR>
                    <a:lnB w="9525">
                      <a:solidFill>
                        <a:srgbClr val="FFFFFF"/>
                      </a:solidFill>
                      <a:prstDash val="solid"/>
                    </a:lnB>
                    <a:solidFill>
                      <a:srgbClr val="CFD5E9"/>
                    </a:solidFill>
                  </a:tcPr>
                </a:tc>
              </a:tr>
              <a:tr h="557893">
                <a:tc>
                  <a:txBody>
                    <a:bodyPr/>
                    <a:lstStyle/>
                    <a:p>
                      <a:r>
                        <a:rPr sz="1725" b="0">
                          <a:solidFill>
                            <a:srgbClr val="202020"/>
                          </a:solidFill>
                        </a:rPr>
                        <a:t>2</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Transformer training</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100%</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Y</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Short run, one seed</a:t>
                      </a:r>
                    </a:p>
                  </a:txBody>
                  <a:tcPr marL="91440" marR="91440" marT="45720" marB="45720">
                    <a:lnR w="9525">
                      <a:solidFill>
                        <a:srgbClr val="FFFFFF"/>
                      </a:solidFill>
                      <a:prstDash val="solid"/>
                    </a:lnR>
                    <a:lnB w="9525">
                      <a:solidFill>
                        <a:srgbClr val="FFFFFF"/>
                      </a:solidFill>
                      <a:prstDash val="solid"/>
                    </a:lnB>
                    <a:solidFill>
                      <a:srgbClr val="E8EBF4"/>
                    </a:solidFill>
                  </a:tcPr>
                </a:tc>
              </a:tr>
              <a:tr h="557893">
                <a:tc>
                  <a:txBody>
                    <a:bodyPr/>
                    <a:lstStyle/>
                    <a:p>
                      <a:r>
                        <a:rPr sz="1725" b="0">
                          <a:solidFill>
                            <a:srgbClr val="202020"/>
                          </a:solidFill>
                        </a:rPr>
                        <a:t>3</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Validation and loss graph</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100%</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Y</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No final test set</a:t>
                      </a:r>
                    </a:p>
                  </a:txBody>
                  <a:tcPr marL="91440" marR="91440" marT="45720" marB="45720">
                    <a:lnR w="9525">
                      <a:solidFill>
                        <a:srgbClr val="FFFFFF"/>
                      </a:solidFill>
                      <a:prstDash val="solid"/>
                    </a:lnR>
                    <a:lnB w="9525">
                      <a:solidFill>
                        <a:srgbClr val="FFFFFF"/>
                      </a:solidFill>
                      <a:prstDash val="solid"/>
                    </a:lnB>
                    <a:solidFill>
                      <a:srgbClr val="CFD5E9"/>
                    </a:solidFill>
                  </a:tcPr>
                </a:tc>
              </a:tr>
              <a:tr h="557893">
                <a:tc>
                  <a:txBody>
                    <a:bodyPr/>
                    <a:lstStyle/>
                    <a:p>
                      <a:r>
                        <a:rPr sz="1725" b="0">
                          <a:solidFill>
                            <a:srgbClr val="202020"/>
                          </a:solidFill>
                        </a:rPr>
                        <a:t>4</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Save/load and generation</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100%</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Y</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Rough text output</a:t>
                      </a:r>
                    </a:p>
                  </a:txBody>
                  <a:tcPr marL="91440" marR="91440" marT="45720" marB="45720">
                    <a:lnR w="9525">
                      <a:solidFill>
                        <a:srgbClr val="FFFFFF"/>
                      </a:solidFill>
                      <a:prstDash val="solid"/>
                    </a:lnR>
                    <a:lnB w="9525">
                      <a:solidFill>
                        <a:srgbClr val="FFFFFF"/>
                      </a:solidFill>
                      <a:prstDash val="solid"/>
                    </a:lnB>
                    <a:solidFill>
                      <a:srgbClr val="E8EBF4"/>
                    </a:solidFill>
                  </a:tcPr>
                </a:tc>
              </a:tr>
              <a:tr h="557893">
                <a:tc>
                  <a:txBody>
                    <a:bodyPr/>
                    <a:lstStyle/>
                    <a:p>
                      <a:r>
                        <a:rPr sz="1725" b="0">
                          <a:solidFill>
                            <a:srgbClr val="202020"/>
                          </a:solidFill>
                        </a:rPr>
                        <a:t>5</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Mamba training</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0%</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Not run</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725" b="0">
                          <a:solidFill>
                            <a:srgbClr val="202020"/>
                          </a:solidFill>
                        </a:rPr>
                        <a:t>Next phase</a:t>
                      </a:r>
                    </a:p>
                  </a:txBody>
                  <a:tcPr marL="91440" marR="91440" marT="45720" marB="45720">
                    <a:lnR w="9525">
                      <a:solidFill>
                        <a:srgbClr val="FFFFFF"/>
                      </a:solidFill>
                      <a:prstDash val="solid"/>
                    </a:lnR>
                    <a:lnB w="9525">
                      <a:solidFill>
                        <a:srgbClr val="FFFFFF"/>
                      </a:solidFill>
                      <a:prstDash val="solid"/>
                    </a:lnB>
                    <a:solidFill>
                      <a:srgbClr val="CFD5E9"/>
                    </a:solidFill>
                  </a:tcPr>
                </a:tc>
              </a:tr>
              <a:tr h="557893">
                <a:tc>
                  <a:txBody>
                    <a:bodyPr/>
                    <a:lstStyle/>
                    <a:p>
                      <a:r>
                        <a:rPr sz="1725" b="0">
                          <a:solidFill>
                            <a:srgbClr val="202020"/>
                          </a:solidFill>
                        </a:rPr>
                        <a:t>6</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Efficiency comparison</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0%</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Not run</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725" b="0">
                          <a:solidFill>
                            <a:srgbClr val="202020"/>
                          </a:solidFill>
                        </a:rPr>
                        <a:t>Next phase</a:t>
                      </a:r>
                    </a:p>
                  </a:txBody>
                  <a:tcPr marL="91440" marR="91440" marT="45720" marB="45720">
                    <a:lnR w="9525">
                      <a:solidFill>
                        <a:srgbClr val="FFFFFF"/>
                      </a:solidFill>
                      <a:prstDash val="solid"/>
                    </a:lnR>
                    <a:lnB w="9525">
                      <a:solidFill>
                        <a:srgbClr val="FFFFFF"/>
                      </a:solidFill>
                      <a:prstDash val="solid"/>
                    </a:lnB>
                    <a:solidFill>
                      <a:srgbClr val="E8EBF4"/>
                    </a:solidFill>
                  </a:tcPr>
                </a:tc>
              </a:tr>
            </a:tbl>
          </a:graphicData>
        </a:graphic>
      </p:graphicFrame>
      <p:sp>
        <p:nvSpPr>
          <p:cNvPr id="12" name="">
            <a:extLst xmlns:a="http://schemas.openxmlformats.org/drawingml/2006/main">
              <a:ext uri="{FF2B5EF4-FFF2-40B4-BE49-F238E27FC236}">
                <a16:creationId xmlns:a16="http://schemas.microsoft.com/office/drawing/2014/main" id="{B693EBF1-D50F-4B44-AF00-8E01946C6FF8}"/>
              </a:ext>
            </a:extLst>
          </p:cNvPr>
          <p:cNvSpPr>
            <a:spLocks xmlns:a="http://schemas.openxmlformats.org/drawingml/2006/main" noGrp="1"/>
          </p:cNvSpPr>
          <p:nvPr/>
        </p:nvSpPr>
        <p:spPr>
          <a:xfrm xmlns:a="http://schemas.openxmlformats.org/drawingml/2006/main">
            <a:off x="571500" y="61436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0">
                <a:solidFill>
                  <a:srgbClr val="555555"/>
                </a:solidFill>
              </a:defRPr>
            </a:defPPr>
            <a:lvl1pPr algn="l">
              <a:defRPr sz="1350" b="0">
                <a:solidFill>
                  <a:srgbClr val="555555"/>
                </a:solidFill>
              </a:defRPr>
            </a:lvl1pPr>
            <a:lvl2pPr algn="l">
              <a:defRPr sz="1350" b="0">
                <a:solidFill>
                  <a:srgbClr val="555555"/>
                </a:solidFill>
              </a:defRPr>
            </a:lvl2pPr>
            <a:lvl3pPr algn="l">
              <a:defRPr sz="1350" b="0">
                <a:solidFill>
                  <a:srgbClr val="555555"/>
                </a:solidFill>
              </a:defRPr>
            </a:lvl3pPr>
            <a:lvl4pPr algn="l">
              <a:defRPr sz="1350" b="0">
                <a:solidFill>
                  <a:srgbClr val="555555"/>
                </a:solidFill>
              </a:defRPr>
            </a:lvl4pPr>
            <a:lvl5pPr algn="l">
              <a:defRPr sz="1350" b="0">
                <a:solidFill>
                  <a:srgbClr val="555555"/>
                </a:solidFill>
              </a:defRPr>
            </a:lvl5pPr>
            <a:lvl6pPr algn="l">
              <a:defRPr sz="1350" b="0">
                <a:solidFill>
                  <a:srgbClr val="555555"/>
                </a:solidFill>
              </a:defRPr>
            </a:lvl6pPr>
            <a:lvl7pPr algn="l">
              <a:defRPr sz="1350" b="0">
                <a:solidFill>
                  <a:srgbClr val="555555"/>
                </a:solidFill>
              </a:defRPr>
            </a:lvl7pPr>
            <a:lvl8pPr algn="l">
              <a:defRPr sz="1350" b="0">
                <a:solidFill>
                  <a:srgbClr val="555555"/>
                </a:solidFill>
              </a:defRPr>
            </a:lvl8pPr>
            <a:lvl9pPr algn="l">
              <a:defRPr sz="1350" b="0">
                <a:solidFill>
                  <a:srgbClr val="555555"/>
                </a:solidFill>
              </a:defRPr>
            </a:lvl9pPr>
          </a:lstStyle>
          <a:p xmlns:a="http://schemas.openxmlformats.org/drawingml/2006/main">
            <a:pPr algn="l">
              <a:defRPr sz="1350" b="0">
                <a:solidFill>
                  <a:srgbClr val="555555"/>
                </a:solidFill>
              </a:defRPr>
            </a:pPr>
            <a:r>
              <a:rPr sz="1350" b="0">
                <a:solidFill>
                  <a:srgbClr val="555555"/>
                </a:solidFill>
              </a:rPr>
              <a:t>Percentages refer to the listed pilot tasks, not completion of the full project.</a:t>
            </a:r>
          </a:p>
        </p:txBody>
      </p:sp>
    </p:spTree>
    <p:extLst>
      <p:ext uri="{BB962C8B-B14F-4D97-AF65-F5344CB8AC3E}">
        <p14:creationId xmlns:p14="http://schemas.microsoft.com/office/powerpoint/2010/main" val="95808996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4BA79FB-CDDC-4075-BB39-3B1FC17892ED}"/>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3" name="Text Box 34">
            <a:extLst xmlns:a="http://schemas.openxmlformats.org/drawingml/2006/main">
              <a:ext uri="{FF2B5EF4-FFF2-40B4-BE49-F238E27FC236}">
                <a16:creationId xmlns:a16="http://schemas.microsoft.com/office/drawing/2014/main" id="{CEE463CC-1ED4-4186-AD11-2EB2FCF3D7DC}"/>
              </a:ext>
            </a:extLst>
          </p:cNvPr>
          <p:cNvSpPr>
            <a:spLocks xmlns:a="http://schemas.openxmlformats.org/drawingml/2006/main" noGrp="1"/>
          </p:cNvSpPr>
          <p:nvPr/>
        </p:nvSpPr>
        <p:spPr>
          <a:xfrm xmlns:a="http://schemas.openxmlformats.org/drawingml/2006/main">
            <a:off x="2895600" y="1143002"/>
            <a:ext cx="77724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Top learning points</a:t>
            </a:r>
          </a:p>
        </p:txBody>
      </p:sp>
      <p:sp>
        <p:nvSpPr>
          <p:cNvPr id="8" name="Slide Number Placeholder 7">
            <a:extLst xmlns:a="http://schemas.openxmlformats.org/drawingml/2006/main">
              <a:ext uri="{FF2B5EF4-FFF2-40B4-BE49-F238E27FC236}">
                <a16:creationId xmlns:a16="http://schemas.microsoft.com/office/drawing/2014/main" id="{9477EB1B-CA3D-4220-B633-8572A474E5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9</a:t>
            </a:fld>
            <a:endParaRPr/>
          </a:p>
        </p:txBody>
      </p:sp>
      <p:pic>
        <p:nvPicPr>
          <p:cNvPr id="9" name="Picture 12">
            <a:extLst xmlns:a="http://schemas.openxmlformats.org/drawingml/2006/main">
              <a:ext uri="{FF2B5EF4-FFF2-40B4-BE49-F238E27FC236}">
                <a16:creationId xmlns:a16="http://schemas.microsoft.com/office/drawing/2014/main" id="{A81C3460-C3F5-42F8-AC00-8AA29E1699BE}"/>
              </a:ext>
            </a:extLst>
          </p:cNvPr>
          <p:cNvPicPr>
            <a:picLocks xmlns:a="http://schemas.openxmlformats.org/drawingml/2006/main" noChangeAspect="1"/>
          </p:cNvPicPr>
          <p:nvPr/>
        </p:nvPicPr>
        <p:blipFill>
          <a:blip xmlns:r="http://schemas.openxmlformats.org/officeDocument/2006/relationships" xmlns:a="http://schemas.openxmlformats.org/drawingml/2006/main" r:embed="Rdc21660899634984"/>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10" name="Footer Placeholder 2">
            <a:extLst xmlns:a="http://schemas.openxmlformats.org/drawingml/2006/main">
              <a:ext uri="{FF2B5EF4-FFF2-40B4-BE49-F238E27FC236}">
                <a16:creationId xmlns:a16="http://schemas.microsoft.com/office/drawing/2014/main" id="{771DD7DC-1035-A7EC-4E54-2FC9A461DC59}"/>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graphicFrame>
        <p:nvGraphicFramePr>
          <p:cNvPr id="11" name="">
            <a:extLst xmlns:a="http://schemas.openxmlformats.org/drawingml/2006/main">
              <a:ext uri="{FF2B5EF4-FFF2-40B4-BE49-F238E27FC236}">
                <a16:creationId xmlns:a16="http://schemas.microsoft.com/office/drawing/2014/main" id="{61724E62-5E76-4A66-976D-CF40BEDA5C22}"/>
              </a:ext>
            </a:extLst>
          </p:cNvPr>
          <p:cNvGraphicFramePr/>
          <p:nvPr/>
        </p:nvGraphicFramePr>
        <p:xfrm>
          <a:off xmlns:a="http://schemas.openxmlformats.org/drawingml/2006/main" x="523875" y="2095500"/>
          <a:ext xmlns:a="http://schemas.openxmlformats.org/drawingml/2006/main" cx="11049000" cy="3543300"/>
        </p:xfrm>
        <a:graphic xmlns:a="http://schemas.openxmlformats.org/drawingml/2006/main">
          <a:graphicData uri="http://schemas.openxmlformats.org/drawingml/2006/table">
            <a:tbl>
              <a:tblPr/>
              <a:tblGrid>
                <a:gridCol w="666750"/>
                <a:gridCol w="10382250"/>
              </a:tblGrid>
              <a:tr h="590550">
                <a:tc>
                  <a:txBody>
                    <a:bodyPr/>
                    <a:lstStyle/>
                    <a:p>
                      <a:r>
                        <a:rPr sz="1950" b="1">
                          <a:solidFill>
                            <a:srgbClr val="FFFFFF"/>
                          </a:solidFill>
                        </a:rPr>
                        <a:t>No</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950" b="1">
                          <a:solidFill>
                            <a:srgbClr val="FFFFFF"/>
                          </a:solidFill>
                        </a:rPr>
                        <a:t>Learning point</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r>
              <a:tr h="590550">
                <a:tc>
                  <a:txBody>
                    <a:bodyPr/>
                    <a:lstStyle/>
                    <a:p>
                      <a:r>
                        <a:rPr sz="1950" b="0">
                          <a:solidFill>
                            <a:srgbClr val="202020"/>
                          </a:solidFill>
                        </a:rPr>
                        <a:t>1</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950" b="0">
                          <a:solidFill>
                            <a:srgbClr val="202020"/>
                          </a:solidFill>
                        </a:rPr>
                        <a:t>Next-token targets are inputs shifted by one position.</a:t>
                      </a:r>
                    </a:p>
                  </a:txBody>
                  <a:tcPr marL="91440" marR="91440" marT="45720" marB="45720">
                    <a:lnR w="9525">
                      <a:solidFill>
                        <a:srgbClr val="FFFFFF"/>
                      </a:solidFill>
                      <a:prstDash val="solid"/>
                    </a:lnR>
                    <a:lnB w="9525">
                      <a:solidFill>
                        <a:srgbClr val="FFFFFF"/>
                      </a:solidFill>
                      <a:prstDash val="solid"/>
                    </a:lnB>
                    <a:solidFill>
                      <a:srgbClr val="CFD5E9"/>
                    </a:solidFill>
                  </a:tcPr>
                </a:tc>
              </a:tr>
              <a:tr h="590550">
                <a:tc>
                  <a:txBody>
                    <a:bodyPr/>
                    <a:lstStyle/>
                    <a:p>
                      <a:r>
                        <a:rPr sz="1950" b="0">
                          <a:solidFill>
                            <a:srgbClr val="202020"/>
                          </a:solidFill>
                        </a:rPr>
                        <a:t>2</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950" b="0">
                          <a:solidFill>
                            <a:srgbClr val="202020"/>
                          </a:solidFill>
                        </a:rPr>
                        <a:t>Causal attention prevents access to future tokens.</a:t>
                      </a:r>
                    </a:p>
                  </a:txBody>
                  <a:tcPr marL="91440" marR="91440" marT="45720" marB="45720">
                    <a:lnR w="9525">
                      <a:solidFill>
                        <a:srgbClr val="FFFFFF"/>
                      </a:solidFill>
                      <a:prstDash val="solid"/>
                    </a:lnR>
                    <a:lnB w="9525">
                      <a:solidFill>
                        <a:srgbClr val="FFFFFF"/>
                      </a:solidFill>
                      <a:prstDash val="solid"/>
                    </a:lnB>
                    <a:solidFill>
                      <a:srgbClr val="E8EBF4"/>
                    </a:solidFill>
                  </a:tcPr>
                </a:tc>
              </a:tr>
              <a:tr h="590550">
                <a:tc>
                  <a:txBody>
                    <a:bodyPr/>
                    <a:lstStyle/>
                    <a:p>
                      <a:r>
                        <a:rPr sz="1950" b="0">
                          <a:solidFill>
                            <a:srgbClr val="202020"/>
                          </a:solidFill>
                        </a:rPr>
                        <a:t>3</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950" b="0">
                          <a:solidFill>
                            <a:srgbClr val="202020"/>
                          </a:solidFill>
                        </a:rPr>
                        <a:t>Split documents before tokenization to protect validation.</a:t>
                      </a:r>
                    </a:p>
                  </a:txBody>
                  <a:tcPr marL="91440" marR="91440" marT="45720" marB="45720">
                    <a:lnR w="9525">
                      <a:solidFill>
                        <a:srgbClr val="FFFFFF"/>
                      </a:solidFill>
                      <a:prstDash val="solid"/>
                    </a:lnR>
                    <a:lnB w="9525">
                      <a:solidFill>
                        <a:srgbClr val="FFFFFF"/>
                      </a:solidFill>
                      <a:prstDash val="solid"/>
                    </a:lnB>
                    <a:solidFill>
                      <a:srgbClr val="CFD5E9"/>
                    </a:solidFill>
                  </a:tcPr>
                </a:tc>
              </a:tr>
              <a:tr h="590550">
                <a:tc>
                  <a:txBody>
                    <a:bodyPr/>
                    <a:lstStyle/>
                    <a:p>
                      <a:r>
                        <a:rPr sz="1950" b="0">
                          <a:solidFill>
                            <a:srgbClr val="202020"/>
                          </a:solidFill>
                        </a:rPr>
                        <a:t>4</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950" b="0">
                          <a:solidFill>
                            <a:srgbClr val="202020"/>
                          </a:solidFill>
                        </a:rPr>
                        <a:t>Lower loss does not guarantee fluent generated text.</a:t>
                      </a:r>
                    </a:p>
                  </a:txBody>
                  <a:tcPr marL="91440" marR="91440" marT="45720" marB="45720">
                    <a:lnR w="9525">
                      <a:solidFill>
                        <a:srgbClr val="FFFFFF"/>
                      </a:solidFill>
                      <a:prstDash val="solid"/>
                    </a:lnR>
                    <a:lnB w="9525">
                      <a:solidFill>
                        <a:srgbClr val="FFFFFF"/>
                      </a:solidFill>
                      <a:prstDash val="solid"/>
                    </a:lnB>
                    <a:solidFill>
                      <a:srgbClr val="E8EBF4"/>
                    </a:solidFill>
                  </a:tcPr>
                </a:tc>
              </a:tr>
              <a:tr h="590550">
                <a:tc>
                  <a:txBody>
                    <a:bodyPr/>
                    <a:lstStyle/>
                    <a:p>
                      <a:r>
                        <a:rPr sz="1950" b="0">
                          <a:solidFill>
                            <a:srgbClr val="202020"/>
                          </a:solidFill>
                        </a:rPr>
                        <a:t>5</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950" b="0">
                          <a:solidFill>
                            <a:srgbClr val="202020"/>
                          </a:solidFill>
                        </a:rPr>
                        <a:t>A fair comparison requires matched data and training budgets.</a:t>
                      </a:r>
                    </a:p>
                  </a:txBody>
                  <a:tcPr marL="91440" marR="91440" marT="45720" marB="45720">
                    <a:lnR w="9525">
                      <a:solidFill>
                        <a:srgbClr val="FFFFFF"/>
                      </a:solidFill>
                      <a:prstDash val="solid"/>
                    </a:lnR>
                    <a:lnB w="9525">
                      <a:solidFill>
                        <a:srgbClr val="FFFFFF"/>
                      </a:solidFill>
                      <a:prstDash val="solid"/>
                    </a:lnB>
                    <a:solidFill>
                      <a:srgbClr val="CFD5E9"/>
                    </a:solidFill>
                  </a:tcPr>
                </a:tc>
              </a:tr>
            </a:tbl>
          </a:graphicData>
        </a:graphic>
      </p:graphicFrame>
    </p:spTree>
    <p:extLst>
      <p:ext uri="{BB962C8B-B14F-4D97-AF65-F5344CB8AC3E}">
        <p14:creationId xmlns:p14="http://schemas.microsoft.com/office/powerpoint/2010/main" val="89306874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1C9EC23-9F05-443C-9074-4712035AA646}"/>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3" name="Text Box 34">
            <a:extLst xmlns:a="http://schemas.openxmlformats.org/drawingml/2006/main">
              <a:ext uri="{FF2B5EF4-FFF2-40B4-BE49-F238E27FC236}">
                <a16:creationId xmlns:a16="http://schemas.microsoft.com/office/drawing/2014/main" id="{B3BD43DC-10F0-4066-9FE2-44F0639FBF31}"/>
              </a:ext>
            </a:extLst>
          </p:cNvPr>
          <p:cNvSpPr>
            <a:spLocks xmlns:a="http://schemas.openxmlformats.org/drawingml/2006/main" noGrp="1"/>
          </p:cNvSpPr>
          <p:nvPr/>
        </p:nvSpPr>
        <p:spPr>
          <a:xfrm xmlns:a="http://schemas.openxmlformats.org/drawingml/2006/main">
            <a:off x="2895600" y="1143002"/>
            <a:ext cx="77724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Top unresolved challenges</a:t>
            </a:r>
          </a:p>
        </p:txBody>
      </p:sp>
      <p:sp>
        <p:nvSpPr>
          <p:cNvPr id="8" name="Slide Number Placeholder 7">
            <a:extLst xmlns:a="http://schemas.openxmlformats.org/drawingml/2006/main">
              <a:ext uri="{FF2B5EF4-FFF2-40B4-BE49-F238E27FC236}">
                <a16:creationId xmlns:a16="http://schemas.microsoft.com/office/drawing/2014/main" id="{7FC5626C-903E-47A9-820E-8799923B51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10</a:t>
            </a:fld>
            <a:endParaRPr/>
          </a:p>
        </p:txBody>
      </p:sp>
      <p:pic>
        <p:nvPicPr>
          <p:cNvPr id="9" name="Picture 12">
            <a:extLst xmlns:a="http://schemas.openxmlformats.org/drawingml/2006/main">
              <a:ext uri="{FF2B5EF4-FFF2-40B4-BE49-F238E27FC236}">
                <a16:creationId xmlns:a16="http://schemas.microsoft.com/office/drawing/2014/main" id="{E273BF8D-A5F7-45FA-B214-E7EEC649712C}"/>
              </a:ext>
            </a:extLst>
          </p:cNvPr>
          <p:cNvPicPr>
            <a:picLocks xmlns:a="http://schemas.openxmlformats.org/drawingml/2006/main" noChangeAspect="1"/>
          </p:cNvPicPr>
          <p:nvPr/>
        </p:nvPicPr>
        <p:blipFill>
          <a:blip xmlns:r="http://schemas.openxmlformats.org/officeDocument/2006/relationships" xmlns:a="http://schemas.openxmlformats.org/drawingml/2006/main" r:embed="Rccd2ea9e316144a0"/>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10" name="Footer Placeholder 2">
            <a:extLst xmlns:a="http://schemas.openxmlformats.org/drawingml/2006/main">
              <a:ext uri="{FF2B5EF4-FFF2-40B4-BE49-F238E27FC236}">
                <a16:creationId xmlns:a16="http://schemas.microsoft.com/office/drawing/2014/main" id="{A515DDE9-8DD7-28A8-E2EC-D0BFDD310E74}"/>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graphicFrame>
        <p:nvGraphicFramePr>
          <p:cNvPr id="11" name="">
            <a:extLst xmlns:a="http://schemas.openxmlformats.org/drawingml/2006/main">
              <a:ext uri="{FF2B5EF4-FFF2-40B4-BE49-F238E27FC236}">
                <a16:creationId xmlns:a16="http://schemas.microsoft.com/office/drawing/2014/main" id="{3AF454F6-2743-48F1-A8B2-A58A3341EB62}"/>
              </a:ext>
            </a:extLst>
          </p:cNvPr>
          <p:cNvGraphicFramePr/>
          <p:nvPr/>
        </p:nvGraphicFramePr>
        <p:xfrm>
          <a:off xmlns:a="http://schemas.openxmlformats.org/drawingml/2006/main" x="523875" y="2095500"/>
          <a:ext xmlns:a="http://schemas.openxmlformats.org/drawingml/2006/main" cx="11049000" cy="3543300"/>
        </p:xfrm>
        <a:graphic xmlns:a="http://schemas.openxmlformats.org/drawingml/2006/main">
          <a:graphicData uri="http://schemas.openxmlformats.org/drawingml/2006/table">
            <a:tbl>
              <a:tblPr/>
              <a:tblGrid>
                <a:gridCol w="666750"/>
                <a:gridCol w="7810500"/>
                <a:gridCol w="2571750"/>
              </a:tblGrid>
              <a:tr h="590550">
                <a:tc>
                  <a:txBody>
                    <a:bodyPr/>
                    <a:lstStyle/>
                    <a:p>
                      <a:r>
                        <a:rPr sz="1800" b="1">
                          <a:solidFill>
                            <a:srgbClr val="FFFFFF"/>
                          </a:solidFill>
                        </a:rPr>
                        <a:t>No</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800" b="1">
                          <a:solidFill>
                            <a:srgbClr val="FFFFFF"/>
                          </a:solidFill>
                        </a:rPr>
                        <a:t>Unresolved challenge</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800" b="1">
                          <a:solidFill>
                            <a:srgbClr val="FFFFFF"/>
                          </a:solidFill>
                        </a:rPr>
                        <a:t>Type</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r>
              <a:tr h="590550">
                <a:tc>
                  <a:txBody>
                    <a:bodyPr/>
                    <a:lstStyle/>
                    <a:p>
                      <a:r>
                        <a:rPr sz="1800" b="0">
                          <a:solidFill>
                            <a:srgbClr val="202020"/>
                          </a:solidFill>
                        </a:rPr>
                        <a:t>1</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Choose a feasible final model and token budget</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Compute</a:t>
                      </a:r>
                    </a:p>
                  </a:txBody>
                  <a:tcPr marL="91440" marR="91440" marT="45720" marB="45720">
                    <a:lnR w="9525">
                      <a:solidFill>
                        <a:srgbClr val="FFFFFF"/>
                      </a:solidFill>
                      <a:prstDash val="solid"/>
                    </a:lnR>
                    <a:lnB w="9525">
                      <a:solidFill>
                        <a:srgbClr val="FFFFFF"/>
                      </a:solidFill>
                      <a:prstDash val="solid"/>
                    </a:lnB>
                    <a:solidFill>
                      <a:srgbClr val="CFD5E9"/>
                    </a:solidFill>
                  </a:tcPr>
                </a:tc>
              </a:tr>
              <a:tr h="590550">
                <a:tc>
                  <a:txBody>
                    <a:bodyPr/>
                    <a:lstStyle/>
                    <a:p>
                      <a:r>
                        <a:rPr sz="1800" b="0">
                          <a:solidFill>
                            <a:srgbClr val="202020"/>
                          </a:solidFill>
                        </a:rPr>
                        <a:t>2</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800" b="0">
                          <a:solidFill>
                            <a:srgbClr val="202020"/>
                          </a:solidFill>
                        </a:rPr>
                        <a:t>Train Mamba stably on the same prepared data</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800" b="0">
                          <a:solidFill>
                            <a:srgbClr val="202020"/>
                          </a:solidFill>
                        </a:rPr>
                        <a:t>Implementation</a:t>
                      </a:r>
                    </a:p>
                  </a:txBody>
                  <a:tcPr marL="91440" marR="91440" marT="45720" marB="45720">
                    <a:lnR w="9525">
                      <a:solidFill>
                        <a:srgbClr val="FFFFFF"/>
                      </a:solidFill>
                      <a:prstDash val="solid"/>
                    </a:lnR>
                    <a:lnB w="9525">
                      <a:solidFill>
                        <a:srgbClr val="FFFFFF"/>
                      </a:solidFill>
                      <a:prstDash val="solid"/>
                    </a:lnB>
                    <a:solidFill>
                      <a:srgbClr val="E8EBF4"/>
                    </a:solidFill>
                  </a:tcPr>
                </a:tc>
              </a:tr>
              <a:tr h="590550">
                <a:tc>
                  <a:txBody>
                    <a:bodyPr/>
                    <a:lstStyle/>
                    <a:p>
                      <a:r>
                        <a:rPr sz="1800" b="0">
                          <a:solidFill>
                            <a:srgbClr val="202020"/>
                          </a:solidFill>
                        </a:rPr>
                        <a:t>3</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Account for the memory-heavy PyTorch scan</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Benchmarking</a:t>
                      </a:r>
                    </a:p>
                  </a:txBody>
                  <a:tcPr marL="91440" marR="91440" marT="45720" marB="45720">
                    <a:lnR w="9525">
                      <a:solidFill>
                        <a:srgbClr val="FFFFFF"/>
                      </a:solidFill>
                      <a:prstDash val="solid"/>
                    </a:lnR>
                    <a:lnB w="9525">
                      <a:solidFill>
                        <a:srgbClr val="FFFFFF"/>
                      </a:solidFill>
                      <a:prstDash val="solid"/>
                    </a:lnB>
                    <a:solidFill>
                      <a:srgbClr val="CFD5E9"/>
                    </a:solidFill>
                  </a:tcPr>
                </a:tc>
              </a:tr>
              <a:tr h="590550">
                <a:tc>
                  <a:txBody>
                    <a:bodyPr/>
                    <a:lstStyle/>
                    <a:p>
                      <a:r>
                        <a:rPr sz="1800" b="0">
                          <a:solidFill>
                            <a:srgbClr val="202020"/>
                          </a:solidFill>
                        </a:rPr>
                        <a:t>4</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800" b="0">
                          <a:solidFill>
                            <a:srgbClr val="202020"/>
                          </a:solidFill>
                        </a:rPr>
                        <a:t>Add fair cached decoding and repeated measurements</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800" b="0">
                          <a:solidFill>
                            <a:srgbClr val="202020"/>
                          </a:solidFill>
                        </a:rPr>
                        <a:t>Evaluation</a:t>
                      </a:r>
                    </a:p>
                  </a:txBody>
                  <a:tcPr marL="91440" marR="91440" marT="45720" marB="45720">
                    <a:lnR w="9525">
                      <a:solidFill>
                        <a:srgbClr val="FFFFFF"/>
                      </a:solidFill>
                      <a:prstDash val="solid"/>
                    </a:lnR>
                    <a:lnB w="9525">
                      <a:solidFill>
                        <a:srgbClr val="FFFFFF"/>
                      </a:solidFill>
                      <a:prstDash val="solid"/>
                    </a:lnB>
                    <a:solidFill>
                      <a:srgbClr val="E8EBF4"/>
                    </a:solidFill>
                  </a:tcPr>
                </a:tc>
              </a:tr>
              <a:tr h="590550">
                <a:tc>
                  <a:txBody>
                    <a:bodyPr/>
                    <a:lstStyle/>
                    <a:p>
                      <a:r>
                        <a:rPr sz="1800" b="0">
                          <a:solidFill>
                            <a:srgbClr val="202020"/>
                          </a:solidFill>
                        </a:rPr>
                        <a:t>5</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Improve evidence beyond a tiny sample and one seed</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Experimental design</a:t>
                      </a:r>
                    </a:p>
                  </a:txBody>
                  <a:tcPr marL="91440" marR="91440" marT="45720" marB="45720">
                    <a:lnR w="9525">
                      <a:solidFill>
                        <a:srgbClr val="FFFFFF"/>
                      </a:solidFill>
                      <a:prstDash val="solid"/>
                    </a:lnR>
                    <a:lnB w="9525">
                      <a:solidFill>
                        <a:srgbClr val="FFFFFF"/>
                      </a:solidFill>
                      <a:prstDash val="solid"/>
                    </a:lnB>
                    <a:solidFill>
                      <a:srgbClr val="CFD5E9"/>
                    </a:solidFill>
                  </a:tcPr>
                </a:tc>
              </a:tr>
            </a:tbl>
          </a:graphicData>
        </a:graphic>
      </p:graphicFrame>
    </p:spTree>
    <p:extLst>
      <p:ext uri="{BB962C8B-B14F-4D97-AF65-F5344CB8AC3E}">
        <p14:creationId xmlns:p14="http://schemas.microsoft.com/office/powerpoint/2010/main" val="331668364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192A916-9F70-48A6-852E-E77DCD234FE3}"/>
              </a:ext>
            </a:extLst>
          </p:cNvPr>
          <p:cNvSpPr>
            <a:spLocks xmlns:a="http://schemas.openxmlformats.org/drawingml/2006/main" noGrp="1"/>
          </p:cNvSpPr>
          <p:nvPr/>
        </p:nvSpPr>
        <p:spPr>
          <a:xfrm xmlns:a="http://schemas.openxmlformats.org/drawingml/2006/main">
            <a:off x="3048000" y="1581155"/>
            <a:ext cx="7620000" cy="36513"/>
          </a:xfrm>
          <a:prstGeom xmlns:a="http://schemas.openxmlformats.org/drawingml/2006/main" prst="rect">
            <a:avLst/>
          </a:prstGeom>
          <a:solidFill xmlns:a="http://schemas.openxmlformats.org/drawingml/2006/main">
            <a:srgbClr val="33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endParaRPr/>
          </a:p>
        </p:txBody>
      </p:sp>
      <p:sp>
        <p:nvSpPr>
          <p:cNvPr id="3" name="Text Box 34">
            <a:extLst xmlns:a="http://schemas.openxmlformats.org/drawingml/2006/main">
              <a:ext uri="{FF2B5EF4-FFF2-40B4-BE49-F238E27FC236}">
                <a16:creationId xmlns:a16="http://schemas.microsoft.com/office/drawing/2014/main" id="{8DFFFEFC-A372-4C1F-BA29-4BDC014069BD}"/>
              </a:ext>
            </a:extLst>
          </p:cNvPr>
          <p:cNvSpPr>
            <a:spLocks xmlns:a="http://schemas.openxmlformats.org/drawingml/2006/main" noGrp="1"/>
          </p:cNvSpPr>
          <p:nvPr/>
        </p:nvSpPr>
        <p:spPr>
          <a:xfrm xmlns:a="http://schemas.openxmlformats.org/drawingml/2006/main">
            <a:off x="2895600" y="1143002"/>
            <a:ext cx="7772400" cy="4572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defPPr algn="r">
              <a:defRPr sz="2400">
                <a:solidFill>
                  <a:srgbClr val="FF0000"/>
                </a:solidFill>
              </a:defRPr>
            </a:defPPr>
            <a:lvl1pPr algn="r">
              <a:defRPr sz="2400">
                <a:solidFill>
                  <a:srgbClr val="FF0000"/>
                </a:solidFill>
              </a:defRPr>
            </a:lvl1pPr>
            <a:lvl2pPr algn="r">
              <a:defRPr sz="2400">
                <a:solidFill>
                  <a:srgbClr val="FF0000"/>
                </a:solidFill>
              </a:defRPr>
            </a:lvl2pPr>
            <a:lvl3pPr algn="r">
              <a:defRPr sz="2400">
                <a:solidFill>
                  <a:srgbClr val="FF0000"/>
                </a:solidFill>
              </a:defRPr>
            </a:lvl3pPr>
            <a:lvl4pPr algn="r">
              <a:defRPr sz="2400">
                <a:solidFill>
                  <a:srgbClr val="FF0000"/>
                </a:solidFill>
              </a:defRPr>
            </a:lvl4pPr>
            <a:lvl5pPr algn="r">
              <a:defRPr sz="2400">
                <a:solidFill>
                  <a:srgbClr val="FF0000"/>
                </a:solidFill>
              </a:defRPr>
            </a:lvl5pPr>
            <a:lvl6pPr algn="r">
              <a:defRPr sz="2400">
                <a:solidFill>
                  <a:srgbClr val="FF0000"/>
                </a:solidFill>
              </a:defRPr>
            </a:lvl6pPr>
            <a:lvl7pPr algn="r">
              <a:defRPr sz="2400">
                <a:solidFill>
                  <a:srgbClr val="FF0000"/>
                </a:solidFill>
              </a:defRPr>
            </a:lvl7pPr>
            <a:lvl8pPr algn="r">
              <a:defRPr sz="2400">
                <a:solidFill>
                  <a:srgbClr val="FF0000"/>
                </a:solidFill>
              </a:defRPr>
            </a:lvl8pPr>
            <a:lvl9pPr algn="r">
              <a:defRPr sz="2400">
                <a:solidFill>
                  <a:srgbClr val="FF0000"/>
                </a:solidFill>
              </a:defRPr>
            </a:lvl9pPr>
          </a:lstStyle>
          <a:p xmlns:a="http://schemas.openxmlformats.org/drawingml/2006/main">
            <a:pPr marL="342891" indent="-342891" algn="r">
              <a:buNone/>
              <a:defRPr sz="2400">
                <a:solidFill>
                  <a:srgbClr val="FF0000"/>
                </a:solidFill>
              </a:defRPr>
            </a:pPr>
            <a:r>
              <a:rPr sz="2400">
                <a:solidFill>
                  <a:srgbClr val="FF0000"/>
                </a:solidFill>
                <a:latin typeface="Trebuchet MS"/>
                <a:ea typeface="Trebuchet MS"/>
                <a:cs typeface="Trebuchet MS"/>
              </a:rPr>
              <a:t>Reference papers</a:t>
            </a:r>
          </a:p>
        </p:txBody>
      </p:sp>
      <p:sp>
        <p:nvSpPr>
          <p:cNvPr id="5" name="Slide Number Placeholder 4">
            <a:extLst xmlns:a="http://schemas.openxmlformats.org/drawingml/2006/main">
              <a:ext uri="{FF2B5EF4-FFF2-40B4-BE49-F238E27FC236}">
                <a16:creationId xmlns:a16="http://schemas.microsoft.com/office/drawing/2014/main" id="{357EBDE2-62CF-49EC-8B96-823DD881E5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02F0E29-F314-934F-92DB-8EEB8DA68833}" type="slidenum">
              <a:t>11</a:t>
            </a:fld>
            <a:endParaRPr/>
          </a:p>
        </p:txBody>
      </p:sp>
      <p:pic>
        <p:nvPicPr>
          <p:cNvPr id="9" name="Picture 12">
            <a:extLst xmlns:a="http://schemas.openxmlformats.org/drawingml/2006/main">
              <a:ext uri="{FF2B5EF4-FFF2-40B4-BE49-F238E27FC236}">
                <a16:creationId xmlns:a16="http://schemas.microsoft.com/office/drawing/2014/main" id="{7F21EDA1-C5BC-46E9-AB02-155302779F4E}"/>
              </a:ext>
            </a:extLst>
          </p:cNvPr>
          <p:cNvPicPr>
            <a:picLocks xmlns:a="http://schemas.openxmlformats.org/drawingml/2006/main" noChangeAspect="1"/>
          </p:cNvPicPr>
          <p:nvPr/>
        </p:nvPicPr>
        <p:blipFill>
          <a:blip xmlns:r="http://schemas.openxmlformats.org/officeDocument/2006/relationships" xmlns:a="http://schemas.openxmlformats.org/drawingml/2006/main" r:embed="Rff72d84e335f4890"/>
          <a:srcRect xmlns:a="http://schemas.openxmlformats.org/drawingml/2006/main" l="0" t="0" r="0" b="0"/>
          <a:stretch xmlns:a="http://schemas.openxmlformats.org/drawingml/2006/main">
            <a:fillRect l="0" t="0" r="0" b="0"/>
          </a:stretch>
        </p:blipFill>
        <p:spPr>
          <a:xfrm xmlns:a="http://schemas.openxmlformats.org/drawingml/2006/main">
            <a:off x="11198691" y="143151"/>
            <a:ext cx="728361" cy="1330271"/>
          </a:xfrm>
          <a:prstGeom xmlns:a="http://schemas.openxmlformats.org/drawingml/2006/main" prst="rect">
            <a:avLst/>
          </a:prstGeom>
          <a:ln xmlns:a="http://schemas.openxmlformats.org/drawingml/2006/main">
            <a:noFill/>
          </a:ln>
        </p:spPr>
      </p:pic>
      <p:sp>
        <p:nvSpPr>
          <p:cNvPr id="10" name="Footer Placeholder 2">
            <a:extLst xmlns:a="http://schemas.openxmlformats.org/drawingml/2006/main">
              <a:ext uri="{FF2B5EF4-FFF2-40B4-BE49-F238E27FC236}">
                <a16:creationId xmlns:a16="http://schemas.microsoft.com/office/drawing/2014/main" id="{2FEA86E0-AF3E-0A6B-2DBB-CCEA3B03FA53}"/>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UE24AM342AA1 Course Project </a:t>
            </a:r>
          </a:p>
        </p:txBody>
      </p:sp>
      <p:graphicFrame>
        <p:nvGraphicFramePr>
          <p:cNvPr id="11" name="">
            <a:extLst xmlns:a="http://schemas.openxmlformats.org/drawingml/2006/main">
              <a:ext uri="{FF2B5EF4-FFF2-40B4-BE49-F238E27FC236}">
                <a16:creationId xmlns:a16="http://schemas.microsoft.com/office/drawing/2014/main" id="{83518081-C2A3-484B-A548-4E63A62DFCF6}"/>
              </a:ext>
            </a:extLst>
          </p:cNvPr>
          <p:cNvGraphicFramePr/>
          <p:nvPr/>
        </p:nvGraphicFramePr>
        <p:xfrm>
          <a:off xmlns:a="http://schemas.openxmlformats.org/drawingml/2006/main" x="523875" y="2095500"/>
          <a:ext xmlns:a="http://schemas.openxmlformats.org/drawingml/2006/main" cx="11049000" cy="3333750"/>
        </p:xfrm>
        <a:graphic xmlns:a="http://schemas.openxmlformats.org/drawingml/2006/main">
          <a:graphicData uri="http://schemas.openxmlformats.org/drawingml/2006/table">
            <a:tbl>
              <a:tblPr/>
              <a:tblGrid>
                <a:gridCol w="571500"/>
                <a:gridCol w="6286500"/>
                <a:gridCol w="2714625"/>
                <a:gridCol w="1476375"/>
              </a:tblGrid>
              <a:tr h="833438">
                <a:tc>
                  <a:txBody>
                    <a:bodyPr/>
                    <a:lstStyle/>
                    <a:p>
                      <a:r>
                        <a:rPr sz="1800" b="1">
                          <a:solidFill>
                            <a:srgbClr val="FFFFFF"/>
                          </a:solidFill>
                        </a:rPr>
                        <a: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800" b="1">
                          <a:solidFill>
                            <a:srgbClr val="FFFFFF"/>
                          </a:solidFill>
                        </a:rPr>
                        <a:t>Paper</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800" b="1">
                          <a:solidFill>
                            <a:srgbClr val="FFFFFF"/>
                          </a:solidFill>
                        </a:rPr>
                        <a:t>Authors</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c>
                  <a:txBody>
                    <a:bodyPr/>
                    <a:lstStyle/>
                    <a:p>
                      <a:r>
                        <a:rPr sz="1800" b="1">
                          <a:solidFill>
                            <a:srgbClr val="FFFFFF"/>
                          </a:solidFill>
                        </a:rPr>
                        <a:t>Year</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472C4"/>
                    </a:solidFill>
                  </a:tcPr>
                </a:tc>
              </a:tr>
              <a:tr h="833438">
                <a:tc>
                  <a:txBody>
                    <a:bodyPr/>
                    <a:lstStyle/>
                    <a:p>
                      <a:r>
                        <a:rPr sz="1800" b="0">
                          <a:solidFill>
                            <a:srgbClr val="202020"/>
                          </a:solidFill>
                        </a:rPr>
                        <a:t>1</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Mamba: Linear-Time Sequence Modeling with Selective State Spaces</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Albert Gu; Tri Dao</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2023</a:t>
                      </a:r>
                    </a:p>
                  </a:txBody>
                  <a:tcPr marL="91440" marR="91440" marT="45720" marB="45720">
                    <a:lnR w="9525">
                      <a:solidFill>
                        <a:srgbClr val="FFFFFF"/>
                      </a:solidFill>
                      <a:prstDash val="solid"/>
                    </a:lnR>
                    <a:lnB w="9525">
                      <a:solidFill>
                        <a:srgbClr val="FFFFFF"/>
                      </a:solidFill>
                      <a:prstDash val="solid"/>
                    </a:lnB>
                    <a:solidFill>
                      <a:srgbClr val="CFD5E9"/>
                    </a:solidFill>
                  </a:tcPr>
                </a:tc>
              </a:tr>
              <a:tr h="833438">
                <a:tc>
                  <a:txBody>
                    <a:bodyPr/>
                    <a:lstStyle/>
                    <a:p>
                      <a:r>
                        <a:rPr sz="1800" b="0">
                          <a:solidFill>
                            <a:srgbClr val="202020"/>
                          </a:solidFill>
                        </a:rPr>
                        <a:t>2</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EBF4"/>
                    </a:solidFill>
                  </a:tcPr>
                </a:tc>
                <a:tc>
                  <a:txBody>
                    <a:bodyPr/>
                    <a:lstStyle/>
                    <a:p>
                      <a:r>
                        <a:rPr sz="1800" b="0">
                          <a:solidFill>
                            <a:srgbClr val="202020"/>
                          </a:solidFill>
                        </a:rPr>
                        <a:t>Efficiently Modeling Long Sequences with Structured State Spaces</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800" b="0">
                          <a:solidFill>
                            <a:srgbClr val="202020"/>
                          </a:solidFill>
                        </a:rPr>
                        <a:t>Albert Gu; Karan Goel; Christopher Ré</a:t>
                      </a:r>
                    </a:p>
                  </a:txBody>
                  <a:tcPr marL="91440" marR="91440" marT="45720" marB="45720">
                    <a:lnR w="9525">
                      <a:solidFill>
                        <a:srgbClr val="FFFFFF"/>
                      </a:solidFill>
                      <a:prstDash val="solid"/>
                    </a:lnR>
                    <a:lnB w="9525">
                      <a:solidFill>
                        <a:srgbClr val="FFFFFF"/>
                      </a:solidFill>
                      <a:prstDash val="solid"/>
                    </a:lnB>
                    <a:solidFill>
                      <a:srgbClr val="E8EBF4"/>
                    </a:solidFill>
                  </a:tcPr>
                </a:tc>
                <a:tc>
                  <a:txBody>
                    <a:bodyPr/>
                    <a:lstStyle/>
                    <a:p>
                      <a:r>
                        <a:rPr sz="1800" b="0">
                          <a:solidFill>
                            <a:srgbClr val="202020"/>
                          </a:solidFill>
                        </a:rPr>
                        <a:t>2021 preprint</a:t>
                      </a:r>
                    </a:p>
                  </a:txBody>
                  <a:tcPr marL="91440" marR="91440" marT="45720" marB="45720">
                    <a:lnR w="9525">
                      <a:solidFill>
                        <a:srgbClr val="FFFFFF"/>
                      </a:solidFill>
                      <a:prstDash val="solid"/>
                    </a:lnR>
                    <a:lnB w="9525">
                      <a:solidFill>
                        <a:srgbClr val="FFFFFF"/>
                      </a:solidFill>
                      <a:prstDash val="solid"/>
                    </a:lnB>
                    <a:solidFill>
                      <a:srgbClr val="E8EBF4"/>
                    </a:solidFill>
                  </a:tcPr>
                </a:tc>
              </a:tr>
              <a:tr h="833438">
                <a:tc>
                  <a:txBody>
                    <a:bodyPr/>
                    <a:lstStyle/>
                    <a:p>
                      <a:r>
                        <a:rPr sz="1800" b="0">
                          <a:solidFill>
                            <a:srgbClr val="202020"/>
                          </a:solidFill>
                        </a:rPr>
                        <a:t>3</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Transformers are SSMs: Generalized Models and Efficient Algorithms Through Structured State Space Duality</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Tri Dao; Albert Gu</a:t>
                      </a:r>
                    </a:p>
                  </a:txBody>
                  <a:tcPr marL="91440" marR="91440" marT="45720" marB="45720">
                    <a:lnR w="9525">
                      <a:solidFill>
                        <a:srgbClr val="FFFFFF"/>
                      </a:solidFill>
                      <a:prstDash val="solid"/>
                    </a:lnR>
                    <a:lnB w="9525">
                      <a:solidFill>
                        <a:srgbClr val="FFFFFF"/>
                      </a:solidFill>
                      <a:prstDash val="solid"/>
                    </a:lnB>
                    <a:solidFill>
                      <a:srgbClr val="CFD5E9"/>
                    </a:solidFill>
                  </a:tcPr>
                </a:tc>
                <a:tc>
                  <a:txBody>
                    <a:bodyPr/>
                    <a:lstStyle/>
                    <a:p>
                      <a:r>
                        <a:rPr sz="1800" b="0">
                          <a:solidFill>
                            <a:srgbClr val="202020"/>
                          </a:solidFill>
                        </a:rPr>
                        <a:t>2024</a:t>
                      </a:r>
                    </a:p>
                  </a:txBody>
                  <a:tcPr marL="91440" marR="91440" marT="45720" marB="45720">
                    <a:lnR w="9525">
                      <a:solidFill>
                        <a:srgbClr val="FFFFFF"/>
                      </a:solidFill>
                      <a:prstDash val="solid"/>
                    </a:lnR>
                    <a:lnB w="9525">
                      <a:solidFill>
                        <a:srgbClr val="FFFFFF"/>
                      </a:solidFill>
                      <a:prstDash val="solid"/>
                    </a:lnB>
                    <a:solidFill>
                      <a:srgbClr val="CFD5E9"/>
                    </a:solidFill>
                  </a:tcPr>
                </a:tc>
              </a:tr>
            </a:tbl>
          </a:graphicData>
        </a:graphic>
      </p:graphicFrame>
      <p:sp>
        <p:nvSpPr>
          <p:cNvPr id="12" name="">
            <a:extLst xmlns:a="http://schemas.openxmlformats.org/drawingml/2006/main">
              <a:ext uri="{FF2B5EF4-FFF2-40B4-BE49-F238E27FC236}">
                <a16:creationId xmlns:a16="http://schemas.microsoft.com/office/drawing/2014/main" id="{5921D177-8BCF-4FAC-8FD2-8FBDF2A87AA8}"/>
              </a:ext>
            </a:extLst>
          </p:cNvPr>
          <p:cNvSpPr>
            <a:spLocks xmlns:a="http://schemas.openxmlformats.org/drawingml/2006/main" noGrp="1"/>
          </p:cNvSpPr>
          <p:nvPr/>
        </p:nvSpPr>
        <p:spPr>
          <a:xfrm xmlns:a="http://schemas.openxmlformats.org/drawingml/2006/main">
            <a:off x="571500" y="54292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0033CC"/>
                </a:solidFill>
              </a:defRPr>
            </a:defPPr>
            <a:lvl1pPr algn="l">
              <a:defRPr sz="1575" b="0">
                <a:solidFill>
                  <a:srgbClr val="0033CC"/>
                </a:solidFill>
              </a:defRPr>
            </a:lvl1pPr>
            <a:lvl2pPr algn="l">
              <a:defRPr sz="1575" b="0">
                <a:solidFill>
                  <a:srgbClr val="0033CC"/>
                </a:solidFill>
              </a:defRPr>
            </a:lvl2pPr>
            <a:lvl3pPr algn="l">
              <a:defRPr sz="1575" b="0">
                <a:solidFill>
                  <a:srgbClr val="0033CC"/>
                </a:solidFill>
              </a:defRPr>
            </a:lvl3pPr>
            <a:lvl4pPr algn="l">
              <a:defRPr sz="1575" b="0">
                <a:solidFill>
                  <a:srgbClr val="0033CC"/>
                </a:solidFill>
              </a:defRPr>
            </a:lvl4pPr>
            <a:lvl5pPr algn="l">
              <a:defRPr sz="1575" b="0">
                <a:solidFill>
                  <a:srgbClr val="0033CC"/>
                </a:solidFill>
              </a:defRPr>
            </a:lvl5pPr>
            <a:lvl6pPr algn="l">
              <a:defRPr sz="1575" b="0">
                <a:solidFill>
                  <a:srgbClr val="0033CC"/>
                </a:solidFill>
              </a:defRPr>
            </a:lvl6pPr>
            <a:lvl7pPr algn="l">
              <a:defRPr sz="1575" b="0">
                <a:solidFill>
                  <a:srgbClr val="0033CC"/>
                </a:solidFill>
              </a:defRPr>
            </a:lvl7pPr>
            <a:lvl8pPr algn="l">
              <a:defRPr sz="1575" b="0">
                <a:solidFill>
                  <a:srgbClr val="0033CC"/>
                </a:solidFill>
              </a:defRPr>
            </a:lvl8pPr>
            <a:lvl9pPr algn="l">
              <a:defRPr sz="1575" b="0">
                <a:solidFill>
                  <a:srgbClr val="0033CC"/>
                </a:solidFill>
              </a:defRPr>
            </a:lvl9pPr>
          </a:lstStyle>
          <a:p xmlns:a="http://schemas.openxmlformats.org/drawingml/2006/main">
            <a:pPr algn="l">
              <a:defRPr sz="1575" b="0">
                <a:solidFill>
                  <a:srgbClr val="0033CC"/>
                </a:solidFill>
              </a:defRPr>
            </a:pPr>
            <a:r>
              <a:rPr sz="1575" b="0">
                <a:solidFill>
                  <a:srgbClr val="0033CC"/>
                </a:solidFill>
              </a:rPr>
              <a:t>Dataset: HuggingFaceFW/fineweb-edu • Code: Gagan-1718/afml-transformer-vs-state-space-models</a:t>
            </a:r>
          </a:p>
        </p:txBody>
      </p:sp>
    </p:spTree>
    <p:extLst>
      <p:ext uri="{BB962C8B-B14F-4D97-AF65-F5344CB8AC3E}">
        <p14:creationId xmlns:p14="http://schemas.microsoft.com/office/powerpoint/2010/main" val="3323204618"/>
      </p:ext>
    </p:extLst>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2026-10-30T11:01:59.2520000Z</dcterms:created>
  <dcterms:modified xsi:type="dcterms:W3CDTF">2026-10-30T11:01:59.2520000Z</dcterms:modified>
</coreProperties>
</file>