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IN"/>
              <a:t>Next-token prediction loss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loss</c:v>
                </c:pt>
              </c:strCache>
            </c:strRef>
          </c:tx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  <c:pt idx="5">
                  <c:v>250</c:v>
                </c:pt>
                <c:pt idx="6">
                  <c:v>300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6.9659000000000004</c:v>
                </c:pt>
                <c:pt idx="1">
                  <c:v>6.0754000000000001</c:v>
                </c:pt>
                <c:pt idx="2">
                  <c:v>5.5011000000000001</c:v>
                </c:pt>
                <c:pt idx="3">
                  <c:v>5.1109</c:v>
                </c:pt>
                <c:pt idx="4">
                  <c:v>4.8512000000000004</c:v>
                </c:pt>
                <c:pt idx="5">
                  <c:v>4.6475</c:v>
                </c:pt>
                <c:pt idx="6">
                  <c:v>4.4890999999999996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961-4C95-A7BC-5DDBEB269AA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 loss</c:v>
                </c:pt>
              </c:strCache>
            </c:strRef>
          </c:tx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  <c:pt idx="5">
                  <c:v>250</c:v>
                </c:pt>
                <c:pt idx="6">
                  <c:v>300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6.9661999999999997</c:v>
                </c:pt>
                <c:pt idx="1">
                  <c:v>6.0641999999999996</c:v>
                </c:pt>
                <c:pt idx="2">
                  <c:v>5.5686999999999998</c:v>
                </c:pt>
                <c:pt idx="3">
                  <c:v>5.2072000000000003</c:v>
                </c:pt>
                <c:pt idx="4">
                  <c:v>4.9958</c:v>
                </c:pt>
                <c:pt idx="5">
                  <c:v>4.8322000000000003</c:v>
                </c:pt>
                <c:pt idx="6">
                  <c:v>4.7413999999999996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61-4C95-A7BC-5DDBEB269A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7.2"/>
          <c:min val="4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16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166B9"/>
                </a:solidFill>
                <a:latin typeface="Aptos"/>
              </a:defRPr>
            </a:pPr>
            <a:r>
              <a:t>UE24AM342AA1  |  COURSE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142341"/>
                </a:solidFill>
                <a:latin typeface="Aptos"/>
              </a:defRPr>
            </a:pPr>
            <a:r>
              <a:rPr dirty="0"/>
              <a:t>Swapping Attention for</a:t>
            </a:r>
            <a:br>
              <a:rPr lang="en-IN" dirty="0"/>
            </a:br>
            <a:r>
              <a:rPr dirty="0"/>
              <a:t>Selective State Spaces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5146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697382"/>
                </a:solidFill>
                <a:latin typeface="Aptos"/>
              </a:defRPr>
            </a:pPr>
            <a:r>
              <a:t>Training and Evaluating a Mamba-Style Small Language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246120"/>
            <a:ext cx="10789920" cy="960120"/>
          </a:xfrm>
          <a:prstGeom prst="round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3456432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ptos"/>
              </a:defRPr>
            </a:pPr>
            <a:r>
              <a:t>Review 1  •  Initial Transformer baseline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526280"/>
            <a:ext cx="52120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4526280"/>
            <a:ext cx="73152" cy="1325880"/>
          </a:xfrm>
          <a:prstGeom prst="rect">
            <a:avLst/>
          </a:prstGeom>
          <a:solidFill>
            <a:srgbClr val="316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469087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341"/>
                </a:solidFill>
                <a:latin typeface="Aptos"/>
              </a:defRPr>
            </a:pPr>
            <a:r>
              <a:t>Project 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5120640"/>
            <a:ext cx="484632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C"/>
                </a:solidFill>
                <a:latin typeface="Aptos"/>
              </a:defRPr>
            </a:pPr>
            <a:r>
              <a:t>Compare Transformer attention with Mamba-style selective state updates.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4526280"/>
            <a:ext cx="53949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80760" y="4526280"/>
            <a:ext cx="73152" cy="1325880"/>
          </a:xfrm>
          <a:prstGeom prst="rect">
            <a:avLst/>
          </a:prstGeom>
          <a:solidFill>
            <a:srgbClr val="44B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81928" y="46908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341"/>
                </a:solidFill>
                <a:latin typeface="Aptos"/>
              </a:defRPr>
            </a:pPr>
            <a:r>
              <a:t>Review 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5120640"/>
            <a:ext cx="5029200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C"/>
                </a:solidFill>
                <a:latin typeface="Aptos"/>
              </a:defRPr>
            </a:pPr>
            <a:r>
              <a:t>Transformer pilot completed; matched Mamba training and comparison remain.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080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97382"/>
                </a:solidFill>
                <a:latin typeface="Aptos"/>
              </a:defRPr>
            </a:pPr>
            <a:r>
              <a:t>Krishna G Pai • Dikshith Varma M N • Gagandeep N • Mallikarjuna Rao R 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97382"/>
                </a:solidFill>
                <a:latin typeface="Aptos"/>
              </a:defRPr>
            </a:pPr>
            <a:r>
              <a:t>UE24AM342AA1 • Advanced Foundations in Machine 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97382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16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97382"/>
                </a:solidFill>
                <a:latin typeface="Aptos"/>
              </a:defRPr>
            </a:pPr>
            <a:r>
              <a:t>A controlled small-scale study of next-token prediction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2578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73152" cy="2057400"/>
          </a:xfrm>
          <a:prstGeom prst="rect">
            <a:avLst/>
          </a:prstGeom>
          <a:solidFill>
            <a:srgbClr val="316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581912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341"/>
                </a:solidFill>
                <a:latin typeface="Aptos"/>
              </a:defRPr>
            </a:pPr>
            <a:r>
              <a:t>Transformer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011680"/>
            <a:ext cx="4892040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C"/>
                </a:solidFill>
                <a:latin typeface="Aptos"/>
              </a:defRPr>
            </a:pPr>
            <a:r>
              <a:t>• Attention combines information from earlier tokens</a:t>
            </a:r>
            <a:br/>
            <a:r>
              <a:t>• Direct access to earlier token representations</a:t>
            </a:r>
            <a:br/>
            <a:r>
              <a:t>• Baseline pipeline implemented and trained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2578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73152" cy="2057400"/>
          </a:xfrm>
          <a:prstGeom prst="rect">
            <a:avLst/>
          </a:prstGeom>
          <a:solidFill>
            <a:srgbClr val="44B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64807" y="1581912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341"/>
                </a:solidFill>
                <a:latin typeface="Aptos"/>
              </a:defRPr>
            </a:pPr>
            <a:r>
              <a:t>Mamba-style SSM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2011680"/>
            <a:ext cx="4892040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D3C"/>
                </a:solidFill>
                <a:latin typeface="Aptos"/>
              </a:defRPr>
            </a:pPr>
            <a:r>
              <a:t>• Running state updates with each input token</a:t>
            </a:r>
            <a:br/>
            <a:r>
              <a:t>• Input-dependent selective state-space parameters</a:t>
            </a:r>
            <a:br/>
            <a:r>
              <a:t>• Training on this pilot is still pending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42341"/>
                </a:solidFill>
                <a:latin typeface="Aptos"/>
              </a:defRPr>
            </a:pPr>
            <a:r>
              <a:t>Our comparison will match: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34840"/>
            <a:ext cx="2560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4434840"/>
            <a:ext cx="73152" cy="1234440"/>
          </a:xfrm>
          <a:prstGeom prst="rect">
            <a:avLst/>
          </a:prstGeom>
          <a:solidFill>
            <a:srgbClr val="316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4599431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341"/>
                </a:solidFill>
                <a:latin typeface="Aptos"/>
              </a:defRPr>
            </a:pPr>
            <a:r>
              <a:t>Model 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5029200"/>
            <a:ext cx="21945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D3C"/>
                </a:solidFill>
                <a:latin typeface="Aptos"/>
              </a:defRPr>
            </a:pPr>
            <a:r>
              <a:t>similar parameter budget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39" y="4434840"/>
            <a:ext cx="2560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520439" y="4434840"/>
            <a:ext cx="73152" cy="1234440"/>
          </a:xfrm>
          <a:prstGeom prst="rect">
            <a:avLst/>
          </a:prstGeom>
          <a:solidFill>
            <a:srgbClr val="44B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21607" y="4599431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341"/>
                </a:solidFill>
                <a:latin typeface="Aptos"/>
              </a:defRPr>
            </a:pPr>
            <a:r>
              <a:t>Training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21607" y="5029200"/>
            <a:ext cx="21945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D3C"/>
                </a:solidFill>
                <a:latin typeface="Aptos"/>
              </a:defRPr>
            </a:pPr>
            <a:r>
              <a:t>same prepared documents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59" y="4434840"/>
            <a:ext cx="2560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09359" y="4434840"/>
            <a:ext cx="73152" cy="1234440"/>
          </a:xfrm>
          <a:prstGeom prst="rect">
            <a:avLst/>
          </a:prstGeom>
          <a:solidFill>
            <a:srgbClr val="316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10527" y="4599431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341"/>
                </a:solidFill>
                <a:latin typeface="Aptos"/>
              </a:defRPr>
            </a:pPr>
            <a:r>
              <a:t>Token budget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7" y="5029200"/>
            <a:ext cx="21945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D3C"/>
                </a:solidFill>
                <a:latin typeface="Aptos"/>
              </a:defRPr>
            </a:pPr>
            <a:r>
              <a:t>matched training exposure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8280" y="4434840"/>
            <a:ext cx="2560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098280" y="4434840"/>
            <a:ext cx="73152" cy="1234440"/>
          </a:xfrm>
          <a:prstGeom prst="rect">
            <a:avLst/>
          </a:prstGeom>
          <a:solidFill>
            <a:srgbClr val="44B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99448" y="4599431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341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9448" y="5029200"/>
            <a:ext cx="21945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32D3C"/>
                </a:solidFill>
                <a:latin typeface="Aptos"/>
              </a:defRPr>
            </a:pPr>
            <a:r>
              <a:t>quality, speed and memory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897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97382"/>
                </a:solidFill>
                <a:latin typeface="Aptos"/>
              </a:defRPr>
            </a:pPr>
            <a:r>
              <a:t>Goal: test whether Mamba retains prediction quality while improving efficiency on longer sequences—not assume it.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97382"/>
                </a:solidFill>
                <a:latin typeface="Aptos"/>
              </a:defRPr>
            </a:pPr>
            <a:r>
              <a:t>UE24AM342AA1 • Advanced Foundations in Machine Learning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97382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16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341"/>
                </a:solidFill>
                <a:latin typeface="Aptos"/>
              </a:defRPr>
            </a:pPr>
            <a:r>
              <a:t>Dataset &amp; Experimental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97382"/>
                </a:solidFill>
                <a:latin typeface="Aptos"/>
              </a:defRPr>
            </a:pPr>
            <a:r>
              <a:t>Pilot setup for the Transformer baseline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50749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73152" cy="2057400"/>
          </a:xfrm>
          <a:prstGeom prst="rect">
            <a:avLst/>
          </a:prstGeom>
          <a:solidFill>
            <a:srgbClr val="316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490472"/>
            <a:ext cx="4709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341"/>
                </a:solidFill>
                <a:latin typeface="Aptos"/>
              </a:defRPr>
            </a:pPr>
            <a:r>
              <a:t>FineWeb-Edu sample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920240"/>
            <a:ext cx="4709159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C"/>
                </a:solidFill>
                <a:latin typeface="Aptos"/>
              </a:defRPr>
            </a:pPr>
            <a:r>
              <a:t>• 200 documents from sample-10BT</a:t>
            </a:r>
            <a:br/>
            <a:r>
              <a:t>• 170 train / 30 validation documents</a:t>
            </a:r>
            <a:br/>
            <a:r>
              <a:t>• Exact duplicates removed; split by document</a:t>
            </a:r>
            <a:br/>
            <a:r>
              <a:t>• Byte-level BPE tokenizer: 1,024 tokens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325880"/>
            <a:ext cx="55778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89320" y="1325880"/>
            <a:ext cx="73152" cy="2057400"/>
          </a:xfrm>
          <a:prstGeom prst="rect">
            <a:avLst/>
          </a:prstGeom>
          <a:solidFill>
            <a:srgbClr val="44B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90488" y="1490472"/>
            <a:ext cx="5212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341"/>
                </a:solidFill>
                <a:latin typeface="Aptos"/>
              </a:defRPr>
            </a:pPr>
            <a:r>
              <a:t>Prepared batches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0488" y="1920240"/>
            <a:ext cx="5212079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C"/>
                </a:solidFill>
                <a:latin typeface="Aptos"/>
              </a:defRPr>
            </a:pPr>
            <a:r>
              <a:t>• Tokenizer fitted on training text only</a:t>
            </a:r>
            <a:br/>
            <a:r>
              <a:t>• 128-token windows stay within documents</a:t>
            </a:r>
            <a:br/>
            <a:r>
              <a:t>• 1,812 training windows</a:t>
            </a:r>
            <a:br/>
            <a:r>
              <a:t>• 494 validation windows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703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42341"/>
                </a:solidFill>
                <a:latin typeface="Aptos"/>
              </a:defRPr>
            </a:pPr>
            <a:r>
              <a:t>Training workflow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51960"/>
            <a:ext cx="1170432" cy="822960"/>
          </a:xfrm>
          <a:prstGeom prst="roundRect">
            <a:avLst/>
          </a:prstGeom>
          <a:solidFill>
            <a:srgbClr val="142341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4370832"/>
            <a:ext cx="1078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FineWeb-Edu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0512" y="4480560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166B9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20239" y="4251960"/>
            <a:ext cx="1170432" cy="822960"/>
          </a:xfrm>
          <a:prstGeom prst="roundRect">
            <a:avLst/>
          </a:prstGeom>
          <a:solidFill>
            <a:srgbClr val="EEF3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965959" y="4370832"/>
            <a:ext cx="1078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32D3C"/>
                </a:solidFill>
                <a:latin typeface="Aptos"/>
              </a:defRPr>
            </a:pPr>
            <a:r>
              <a:t>Document split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90672" y="4480560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166B9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0" y="4251960"/>
            <a:ext cx="1170432" cy="822960"/>
          </a:xfrm>
          <a:prstGeom prst="roundRect">
            <a:avLst/>
          </a:prstGeom>
          <a:solidFill>
            <a:srgbClr val="EEF3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46120" y="4370832"/>
            <a:ext cx="1078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32D3C"/>
                </a:solidFill>
                <a:latin typeface="Aptos"/>
              </a:defRPr>
            </a:pPr>
            <a:r>
              <a:t>Shared tokenizer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0832" y="4480560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166B9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59" y="4251960"/>
            <a:ext cx="1170432" cy="822960"/>
          </a:xfrm>
          <a:prstGeom prst="roundRect">
            <a:avLst/>
          </a:prstGeom>
          <a:solidFill>
            <a:srgbClr val="EEF3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26279" y="4370832"/>
            <a:ext cx="1078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32D3C"/>
                </a:solidFill>
                <a:latin typeface="Aptos"/>
              </a:defRPr>
            </a:pPr>
            <a:r>
              <a:t>Input / target batches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50992" y="4480560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166B9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60720" y="4251960"/>
            <a:ext cx="1170432" cy="822960"/>
          </a:xfrm>
          <a:prstGeom prst="roundRect">
            <a:avLst/>
          </a:prstGeom>
          <a:solidFill>
            <a:srgbClr val="142341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806440" y="4370832"/>
            <a:ext cx="1078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Transformer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31152" y="4480560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166B9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40880" y="4251960"/>
            <a:ext cx="1170432" cy="822960"/>
          </a:xfrm>
          <a:prstGeom prst="roundRect">
            <a:avLst/>
          </a:prstGeom>
          <a:solidFill>
            <a:srgbClr val="EEF3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86600" y="4370832"/>
            <a:ext cx="1078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32D3C"/>
                </a:solidFill>
                <a:latin typeface="Aptos"/>
              </a:defRPr>
            </a:pPr>
            <a:r>
              <a:t>Next-token loss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1312" y="4480560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166B9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21039" y="4251960"/>
            <a:ext cx="1170432" cy="822960"/>
          </a:xfrm>
          <a:prstGeom prst="roundRect">
            <a:avLst/>
          </a:prstGeom>
          <a:solidFill>
            <a:srgbClr val="EEF3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66759" y="4370832"/>
            <a:ext cx="1078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32D3C"/>
                </a:solidFill>
                <a:latin typeface="Aptos"/>
              </a:defRPr>
            </a:pPr>
            <a:r>
              <a:t>Weight updates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91471" y="4480560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166B9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01199" y="4251960"/>
            <a:ext cx="1170432" cy="822960"/>
          </a:xfrm>
          <a:prstGeom prst="roundRect">
            <a:avLst/>
          </a:prstGeom>
          <a:solidFill>
            <a:srgbClr val="142341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646919" y="4370832"/>
            <a:ext cx="1078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Validation + checkpoint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71631" y="4480560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166B9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881359" y="4251960"/>
            <a:ext cx="1170432" cy="822960"/>
          </a:xfrm>
          <a:prstGeom prst="roundRect">
            <a:avLst/>
          </a:prstGeom>
          <a:solidFill>
            <a:srgbClr val="EEF3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927080" y="4370832"/>
            <a:ext cx="10789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32D3C"/>
                </a:solidFill>
                <a:latin typeface="Aptos"/>
              </a:defRPr>
            </a:pPr>
            <a:r>
              <a:t>Text demo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5321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166B9"/>
                </a:solidFill>
                <a:latin typeface="Aptos"/>
              </a:defRPr>
            </a:pPr>
            <a:r>
              <a:t>Next phase: reuse the same data, tokenizer and evaluation setup for Mamba.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97382"/>
                </a:solidFill>
                <a:latin typeface="Aptos"/>
              </a:defRPr>
            </a:pPr>
            <a:r>
              <a:t>UE24AM342AA1 • Advanced Foundations in Machine Learning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97382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16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341"/>
                </a:solidFill>
                <a:latin typeface="Aptos"/>
              </a:defRPr>
            </a:pPr>
            <a:r>
              <a:t>Preliminary Transformer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97382"/>
                </a:solidFill>
                <a:latin typeface="Aptos"/>
              </a:defRPr>
            </a:pPr>
            <a:r>
              <a:t>Small pilot • one seed • CPU / float32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48132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97382"/>
                </a:solidFill>
                <a:latin typeface="Aptos"/>
              </a:defRPr>
            </a:pPr>
            <a:r>
              <a:t>Parameters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755648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3166B9"/>
                </a:solidFill>
                <a:latin typeface="Aptos"/>
              </a:defRPr>
            </a:pPr>
            <a:r>
              <a:t>557,696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1945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97382"/>
                </a:solidFill>
                <a:latin typeface="Aptos"/>
              </a:defRPr>
            </a:pPr>
            <a:r>
              <a:t>2 layers • width 128 • 4 heads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32588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25112" y="148132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97382"/>
                </a:solidFill>
                <a:latin typeface="Aptos"/>
              </a:defRPr>
            </a:pPr>
            <a:r>
              <a:t>Validation loss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5112" y="1755648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3166B9"/>
                </a:solidFill>
                <a:latin typeface="Aptos"/>
              </a:defRPr>
            </a:pPr>
            <a:r>
              <a:t>6.966 → 4.741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5112" y="21945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97382"/>
                </a:solidFill>
                <a:latin typeface="Aptos"/>
              </a:defRPr>
            </a:pPr>
            <a:r>
              <a:t>300 updates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132588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91271" y="148132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97382"/>
                </a:solidFill>
                <a:latin typeface="Aptos"/>
              </a:defRPr>
            </a:pPr>
            <a:r>
              <a:t>Best perplexity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91271" y="1755648"/>
            <a:ext cx="3017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3166B9"/>
                </a:solidFill>
                <a:latin typeface="Aptos"/>
              </a:defRPr>
            </a:pPr>
            <a:r>
              <a:t>114.60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91271" y="21945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97382"/>
                </a:solidFill>
                <a:latin typeface="Aptos"/>
              </a:defRPr>
            </a:pPr>
            <a:r>
              <a:t>Checkpoint at step 300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685800" y="2788920"/>
          <a:ext cx="662940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7635240" y="2971800"/>
            <a:ext cx="38862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635240" y="2971800"/>
            <a:ext cx="73152" cy="2148840"/>
          </a:xfrm>
          <a:prstGeom prst="rect">
            <a:avLst/>
          </a:prstGeom>
          <a:solidFill>
            <a:srgbClr val="44B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36408" y="313639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34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36408" y="3566160"/>
            <a:ext cx="3520440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32D3C"/>
                </a:solidFill>
                <a:latin typeface="Aptos"/>
              </a:defRPr>
            </a:pPr>
            <a:r>
              <a:t>• Loss decreases during training</a:t>
            </a:r>
            <a:br/>
            <a:r>
              <a:t>• Validation improves through step 300</a:t>
            </a:r>
            <a:br/>
            <a:r>
              <a:t>• Generated text remains rough</a:t>
            </a:r>
            <a:br/>
            <a:r>
              <a:t>• No final test or efficiency comparison yet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534924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97382"/>
                </a:solidFill>
                <a:latin typeface="Aptos"/>
              </a:defRPr>
            </a:pPr>
            <a:r>
              <a:t>Run duration: 54 seconds</a:t>
            </a:r>
            <a:br/>
            <a:r>
              <a:t>Fixed 32-window train curve; 494 validation windows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97382"/>
                </a:solidFill>
                <a:latin typeface="Aptos"/>
              </a:defRPr>
            </a:pPr>
            <a:r>
              <a:t>UE24AM342AA1 • Advanced Foundations in Machine Learning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97382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16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341"/>
                </a:solidFill>
                <a:latin typeface="Aptos"/>
              </a:defRPr>
            </a:pPr>
            <a:r>
              <a:t>Progress, Challenges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503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97382"/>
                </a:solidFill>
                <a:latin typeface="Aptos"/>
              </a:defRPr>
            </a:pPr>
            <a:r>
              <a:t>Review 1 status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73152" cy="2148840"/>
          </a:xfrm>
          <a:prstGeom prst="rect">
            <a:avLst/>
          </a:prstGeom>
          <a:solidFill>
            <a:srgbClr val="316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490472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341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920240"/>
            <a:ext cx="4892040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C"/>
                </a:solidFill>
                <a:latin typeface="Aptos"/>
              </a:defRPr>
            </a:pPr>
            <a:r>
              <a:t>✓ Transformer + Mamba code</a:t>
            </a:r>
            <a:br/>
            <a:r>
              <a:t>✓ FineWeb-Edu split and tokenizer</a:t>
            </a:r>
            <a:br/>
            <a:r>
              <a:t>✓ Transformer training / validation</a:t>
            </a:r>
            <a:br/>
            <a:r>
              <a:t>✓ Checkpoint, loss graph and text demo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3492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72200" y="1325880"/>
            <a:ext cx="73152" cy="2148840"/>
          </a:xfrm>
          <a:prstGeom prst="rect">
            <a:avLst/>
          </a:prstGeom>
          <a:solidFill>
            <a:srgbClr val="44B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73368" y="1490472"/>
            <a:ext cx="49834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341"/>
                </a:solidFill>
                <a:latin typeface="Aptos"/>
              </a:defRPr>
            </a:pPr>
            <a:r>
              <a:t>Remaining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1920240"/>
            <a:ext cx="4983479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32D3C"/>
                </a:solidFill>
                <a:latin typeface="Aptos"/>
              </a:defRPr>
            </a:pPr>
            <a:r>
              <a:t>→ Train Mamba on same data</a:t>
            </a:r>
            <a:br/>
            <a:r>
              <a:t>→ Matched model and token budgets</a:t>
            </a:r>
            <a:br/>
            <a:r>
              <a:t>→ Benchmark latency, memory, throughput</a:t>
            </a:r>
            <a:br/>
            <a:r>
              <a:t>→ Repeat measurements / cached decoding</a:t>
            </a:r>
            <a:br/>
            <a:r>
              <a:t>→ Final paper, slides and 5-minute video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94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2341"/>
                </a:solidFill>
                <a:latin typeface="Aptos"/>
              </a:defRPr>
            </a:pPr>
            <a:r>
              <a:t>Key challenges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251960"/>
            <a:ext cx="3429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4251960"/>
            <a:ext cx="73152" cy="1188720"/>
          </a:xfrm>
          <a:prstGeom prst="rect">
            <a:avLst/>
          </a:prstGeom>
          <a:solidFill>
            <a:srgbClr val="316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" y="4416552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341"/>
                </a:solidFill>
                <a:latin typeface="Aptos"/>
              </a:defRPr>
            </a:pPr>
            <a:r>
              <a:t>Compute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846320"/>
            <a:ext cx="3063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D3C"/>
                </a:solidFill>
                <a:latin typeface="Aptos"/>
              </a:defRPr>
            </a:pPr>
            <a:r>
              <a:t>Choose feasible model size and token budget.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4251960"/>
            <a:ext cx="3429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89120" y="4251960"/>
            <a:ext cx="73152" cy="1188720"/>
          </a:xfrm>
          <a:prstGeom prst="rect">
            <a:avLst/>
          </a:prstGeom>
          <a:solidFill>
            <a:srgbClr val="44B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90288" y="4416552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341"/>
                </a:solidFill>
                <a:latin typeface="Aptos"/>
              </a:defRPr>
            </a:pPr>
            <a:r>
              <a:t>Implementation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4846320"/>
            <a:ext cx="3063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D3C"/>
                </a:solidFill>
                <a:latin typeface="Aptos"/>
              </a:defRPr>
            </a:pPr>
            <a:r>
              <a:t>Stable Mamba training; PyTorch scan may be costly.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4251960"/>
            <a:ext cx="3429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92440" y="4251960"/>
            <a:ext cx="73152" cy="1188720"/>
          </a:xfrm>
          <a:prstGeom prst="rect">
            <a:avLst/>
          </a:prstGeom>
          <a:solidFill>
            <a:srgbClr val="316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93608" y="4416552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341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8" y="4846320"/>
            <a:ext cx="3063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D3C"/>
                </a:solidFill>
                <a:latin typeface="Aptos"/>
              </a:defRPr>
            </a:pPr>
            <a:r>
              <a:t>More data, multiple seeds, matched settings.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7150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97382"/>
                </a:solidFill>
                <a:latin typeface="Aptos"/>
              </a:defRPr>
            </a:pPr>
            <a:r>
              <a:t>References: Gu &amp; Dao (Mamba, 2023) • Gu, Goel &amp; Ré (S4, 2021/ICLR 2022) • Dao &amp; Gu (Mamba-2, 2024)</a:t>
            </a:r>
            <a:br/>
            <a:r>
              <a:t>Dataset: FineWeb-Edu • Code: Gagan-1718/afml-transformer-vs-state-space-models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97382"/>
                </a:solidFill>
                <a:latin typeface="Aptos"/>
              </a:defRPr>
            </a:pPr>
            <a:r>
              <a:t>UE24AM342AA1 • Advanced Foundations in Machine Learning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73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97382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549</Words>
  <Application>Microsoft Office PowerPoint</Application>
  <PresentationFormat>Widescreen</PresentationFormat>
  <Paragraphs>89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Mallikarjun Ramanadham</cp:lastModifiedBy>
  <cp:revision>1</cp:revision>
  <dcterms:created xsi:type="dcterms:W3CDTF">2013-01-27T09:14:16Z</dcterms:created>
  <dcterms:modified xsi:type="dcterms:W3CDTF">2026-10-30T16:31:24Z</dcterms:modified>
  <cp:category/>
</cp:coreProperties>
</file>